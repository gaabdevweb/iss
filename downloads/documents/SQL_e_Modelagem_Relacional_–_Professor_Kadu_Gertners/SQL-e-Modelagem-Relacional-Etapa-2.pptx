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88825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754" autoAdjust="0"/>
    <p:restoredTop sz="94660"/>
  </p:normalViewPr>
  <p:slideViewPr>
    <p:cSldViewPr snapToGrid="0">
      <p:cViewPr varScale="1">
        <p:scale>
          <a:sx n="90" d="100"/>
          <a:sy n="90" d="100"/>
        </p:scale>
        <p:origin x="9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4680"/>
            <a:ext cx="1096956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8200" y="160452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6920" y="160452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120" y="368208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8200" y="368208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6920" y="368208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pt-BR" sz="4400" b="0" strike="noStrike" spc="-1">
                <a:solidFill>
                  <a:srgbClr val="000000"/>
                </a:solidFill>
                <a:latin typeface="Calibri"/>
              </a:rPr>
              <a:t>Clique para editar o título mestre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609480" y="6356520"/>
            <a:ext cx="284364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fld id="{8A948C2A-F109-4E83-A9F2-E19E77B6B463}" type="datetime">
              <a:rPr lang="pt-BR" sz="1200" b="0" strike="noStrike" spc="-1">
                <a:solidFill>
                  <a:srgbClr val="8B8B8B"/>
                </a:solidFill>
                <a:latin typeface="Calibri"/>
              </a:rPr>
              <a:t>25/04/2024</a:t>
            </a:fld>
            <a:endParaRPr lang="pt-BR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164480" y="6356520"/>
            <a:ext cx="3859560" cy="364680"/>
          </a:xfrm>
          <a:prstGeom prst="rect">
            <a:avLst/>
          </a:prstGeom>
        </p:spPr>
        <p:txBody>
          <a:bodyPr anchor="ctr"/>
          <a:lstStyle/>
          <a:p>
            <a:endParaRPr lang="pt-BR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735400" y="6356520"/>
            <a:ext cx="284364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B051EBB1-01F8-4ED5-87FB-6B0984AB0840}" type="slidenum">
              <a:rPr lang="pt-BR" sz="1200" b="0" strike="noStrike" spc="-1">
                <a:solidFill>
                  <a:srgbClr val="8B8B8B"/>
                </a:solidFill>
                <a:latin typeface="Calibri"/>
              </a:rPr>
              <a:t>‹nº›</a:t>
            </a:fld>
            <a:endParaRPr lang="pt-BR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Calibri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strike="noStrike" spc="-1">
                <a:solidFill>
                  <a:srgbClr val="000000"/>
                </a:solidFill>
                <a:latin typeface="Calibri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609480" y="274680"/>
            <a:ext cx="1096956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47500" lnSpcReduction="20000"/>
          </a:bodyPr>
          <a:lstStyle/>
          <a:p>
            <a:pPr algn="ctr">
              <a:lnSpc>
                <a:spcPct val="100000"/>
              </a:lnSpc>
            </a:pPr>
            <a:br/>
            <a:br/>
            <a:br/>
            <a:br/>
            <a:br/>
            <a:br/>
            <a:br/>
            <a:r>
              <a:rPr lang="pt-BR" sz="4400" b="0" strike="noStrike" spc="-1">
                <a:solidFill>
                  <a:srgbClr val="000000"/>
                </a:solidFill>
                <a:latin typeface="Calibri"/>
              </a:rPr>
              <a:t>Administração de Banco de Dados Oracle: Introdução</a:t>
            </a:r>
          </a:p>
        </p:txBody>
      </p:sp>
      <p:sp>
        <p:nvSpPr>
          <p:cNvPr id="42" name="CustomShape 2"/>
          <p:cNvSpPr/>
          <p:nvPr/>
        </p:nvSpPr>
        <p:spPr>
          <a:xfrm>
            <a:off x="8974800" y="3429000"/>
            <a:ext cx="2808000" cy="1461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6E80F04-7170-3E43-F93E-5ECA4AEB7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62" y="357187"/>
            <a:ext cx="11010900" cy="6143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072" y="244200"/>
            <a:ext cx="8798680" cy="1142640"/>
          </a:xfrm>
        </p:spPr>
        <p:txBody>
          <a:bodyPr/>
          <a:lstStyle/>
          <a:p>
            <a:r>
              <a:rPr lang="pt-BR" dirty="0"/>
              <a:t>Determinar a relação entre tabelas</a:t>
            </a:r>
            <a:br>
              <a:rPr lang="pt-BR" dirty="0"/>
            </a:br>
            <a:r>
              <a:rPr lang="pt-BR" dirty="0"/>
              <a:t>          e as regras de negócio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253880" y="1768624"/>
            <a:ext cx="1179588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A importância de concluir o processo de design</a:t>
            </a:r>
          </a:p>
          <a:p>
            <a:r>
              <a:rPr lang="pt-BR" sz="2400" dirty="0"/>
              <a:t>		Gastar um tempo na parte do design do banco de dados. Para minimizar os problemas futuros no banco de dados. </a:t>
            </a:r>
          </a:p>
          <a:p>
            <a:r>
              <a:rPr lang="pt-BR" sz="2400" dirty="0"/>
              <a:t>		Dados inconsistentes e informações imprecisas são dois problemas normalmente associados a bancos de dados mal projetados.</a:t>
            </a:r>
          </a:p>
          <a:p>
            <a:r>
              <a:rPr lang="pt-BR" sz="2400" dirty="0"/>
              <a:t>		Declaração de missão --&gt; Para atender a qual propósito (problema de negócio, gerenciar transações, etc.)</a:t>
            </a:r>
          </a:p>
          <a:p>
            <a:r>
              <a:rPr lang="pt-BR" sz="2400" dirty="0"/>
              <a:t>		Objetivos da missão --&gt; Tarefas vinculadas ao banco de dados (em relação aos dados do banco de dados). </a:t>
            </a:r>
          </a:p>
          <a:p>
            <a:r>
              <a:rPr lang="pt-BR" sz="2400" dirty="0"/>
              <a:t>		Envolvidos com o banco de dados: área de negócio, administrador do banco de dados. </a:t>
            </a:r>
          </a:p>
        </p:txBody>
      </p:sp>
    </p:spTree>
    <p:extLst>
      <p:ext uri="{BB962C8B-B14F-4D97-AF65-F5344CB8AC3E}">
        <p14:creationId xmlns:p14="http://schemas.microsoft.com/office/powerpoint/2010/main" val="3101473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072" y="244200"/>
            <a:ext cx="8798680" cy="1142640"/>
          </a:xfrm>
        </p:spPr>
        <p:txBody>
          <a:bodyPr/>
          <a:lstStyle/>
          <a:p>
            <a:r>
              <a:rPr lang="pt-BR" dirty="0"/>
              <a:t>Determinar a relação entre tabelas</a:t>
            </a:r>
            <a:br>
              <a:rPr lang="pt-BR" dirty="0"/>
            </a:br>
            <a:r>
              <a:rPr lang="pt-BR" dirty="0"/>
              <a:t>          e as regras de negócio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196472" y="2134384"/>
            <a:ext cx="117958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Analisando o banco de dados</a:t>
            </a:r>
          </a:p>
          <a:p>
            <a:endParaRPr lang="pt-BR" sz="2400" dirty="0"/>
          </a:p>
          <a:p>
            <a:r>
              <a:rPr lang="pt-BR" sz="2400" dirty="0"/>
              <a:t>		Banco de dados anterior (caso exista) - analisar como os dados são obtidos.</a:t>
            </a:r>
          </a:p>
          <a:p>
            <a:endParaRPr lang="pt-BR" sz="2400" dirty="0"/>
          </a:p>
          <a:p>
            <a:r>
              <a:rPr lang="pt-BR" sz="2400" dirty="0"/>
              <a:t>		Entrevista com usuários e gestores envolvidos com o banco de dados. Perguntas e respostas ajudarão na construção do banco de dados (podendo ter dicas de entidades e atributos). </a:t>
            </a:r>
          </a:p>
        </p:txBody>
      </p:sp>
    </p:spTree>
    <p:extLst>
      <p:ext uri="{BB962C8B-B14F-4D97-AF65-F5344CB8AC3E}">
        <p14:creationId xmlns:p14="http://schemas.microsoft.com/office/powerpoint/2010/main" val="1517539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072" y="244200"/>
            <a:ext cx="8798680" cy="1142640"/>
          </a:xfrm>
        </p:spPr>
        <p:txBody>
          <a:bodyPr/>
          <a:lstStyle/>
          <a:p>
            <a:r>
              <a:rPr lang="pt-BR" dirty="0"/>
              <a:t>Determinar a relação entre tabelas</a:t>
            </a:r>
            <a:br>
              <a:rPr lang="pt-BR" dirty="0"/>
            </a:br>
            <a:r>
              <a:rPr lang="pt-BR" dirty="0"/>
              <a:t>          e as regras de negócio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105032" y="1534944"/>
            <a:ext cx="1199552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Pensando na estrutura de dados do banco de dados</a:t>
            </a:r>
          </a:p>
          <a:p>
            <a:r>
              <a:rPr lang="pt-BR" sz="2400" dirty="0"/>
              <a:t>		Entidades</a:t>
            </a:r>
          </a:p>
          <a:p>
            <a:r>
              <a:rPr lang="pt-BR" sz="2400" dirty="0"/>
              <a:t>		Atributos</a:t>
            </a:r>
          </a:p>
          <a:p>
            <a:r>
              <a:rPr lang="pt-BR" sz="2400" dirty="0"/>
              <a:t>		Chaves (primárias)</a:t>
            </a:r>
          </a:p>
          <a:p>
            <a:r>
              <a:rPr lang="pt-BR" sz="2400" dirty="0"/>
              <a:t>		Característica de cada atributo</a:t>
            </a:r>
          </a:p>
          <a:p>
            <a:r>
              <a:rPr lang="pt-BR" sz="2400" dirty="0"/>
              <a:t>		Identificar relacionamentos entre entidades (chaves estrangeiras, cardinalidades: 1-1, 1-N e N-N)</a:t>
            </a:r>
          </a:p>
          <a:p>
            <a:r>
              <a:rPr lang="pt-BR" sz="2400" dirty="0"/>
              <a:t>		Analisar regras de negócio</a:t>
            </a:r>
          </a:p>
          <a:p>
            <a:r>
              <a:rPr lang="pt-BR" sz="2400" dirty="0"/>
              <a:t>		Definir as visualizações (</a:t>
            </a:r>
            <a:r>
              <a:rPr lang="pt-BR" sz="2400" dirty="0" err="1"/>
              <a:t>views</a:t>
            </a:r>
            <a:r>
              <a:rPr lang="pt-BR" sz="2400" dirty="0"/>
              <a:t>) que os usuários terão do banco de dados (dependendo de cada usuário ou área que acessa o dado)</a:t>
            </a:r>
          </a:p>
          <a:p>
            <a:r>
              <a:rPr lang="pt-BR" sz="2400" dirty="0"/>
              <a:t>		Documentar </a:t>
            </a:r>
          </a:p>
          <a:p>
            <a:r>
              <a:rPr lang="pt-BR" sz="2400" dirty="0"/>
              <a:t>		Revisar a integridade dos dados (tabela, coluna, relacionamento e regras de negócio)		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76775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072" y="244200"/>
            <a:ext cx="8798680" cy="1142640"/>
          </a:xfrm>
        </p:spPr>
        <p:txBody>
          <a:bodyPr/>
          <a:lstStyle/>
          <a:p>
            <a:r>
              <a:rPr lang="pt-BR" dirty="0"/>
              <a:t>Determinar a relação entre tabelas</a:t>
            </a:r>
            <a:br>
              <a:rPr lang="pt-BR" dirty="0"/>
            </a:br>
            <a:r>
              <a:rPr lang="pt-BR" dirty="0"/>
              <a:t>          e as regras de negócio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105032" y="1534944"/>
            <a:ext cx="1199552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Conduzindo entrevistas</a:t>
            </a:r>
          </a:p>
          <a:p>
            <a:r>
              <a:rPr lang="pt-BR" sz="2400" dirty="0"/>
              <a:t>		Importante conversas e entrevistas com os envolvidos com o banco de dados</a:t>
            </a:r>
          </a:p>
          <a:p>
            <a:r>
              <a:rPr lang="pt-BR" sz="2400" dirty="0"/>
              <a:t>		Perguntas abertas / perguntas fechadas	</a:t>
            </a:r>
          </a:p>
          <a:p>
            <a:r>
              <a:rPr lang="pt-BR" sz="2400" dirty="0"/>
              <a:t>		Diretrizes dos participantes</a:t>
            </a:r>
          </a:p>
          <a:p>
            <a:r>
              <a:rPr lang="pt-BR" sz="2400" dirty="0"/>
              <a:t>			Conscientize os participantes de suas intenções</a:t>
            </a:r>
          </a:p>
          <a:p>
            <a:r>
              <a:rPr lang="pt-BR" sz="2400" dirty="0"/>
              <a:t>			Deixe os participantes saberem que você aprecia sua participação na entrevista e que suas respostas às perguntas da entrevista são valiosas para o projeto geral de design</a:t>
            </a:r>
          </a:p>
          <a:p>
            <a:r>
              <a:rPr lang="pt-BR" sz="2400" dirty="0"/>
              <a:t>			Certifique-se de que todos entendam que você é o árbitro oficial se e quando surgir uma disputa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183127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072" y="244200"/>
            <a:ext cx="8798680" cy="1142640"/>
          </a:xfrm>
        </p:spPr>
        <p:txBody>
          <a:bodyPr/>
          <a:lstStyle/>
          <a:p>
            <a:r>
              <a:rPr lang="pt-BR" dirty="0"/>
              <a:t>Determinar a relação entre tabelas</a:t>
            </a:r>
            <a:br>
              <a:rPr lang="pt-BR" dirty="0"/>
            </a:br>
            <a:r>
              <a:rPr lang="pt-BR" dirty="0"/>
              <a:t>          e as regras de negócio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96648" y="2022624"/>
            <a:ext cx="1199552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	Diretrizes do entrevistador (você)</a:t>
            </a:r>
          </a:p>
          <a:p>
            <a:r>
              <a:rPr lang="pt-BR" sz="2400" dirty="0"/>
              <a:t>			Conduza a entrevista em um local propício</a:t>
            </a:r>
          </a:p>
          <a:p>
            <a:r>
              <a:rPr lang="pt-BR" sz="2400" dirty="0"/>
              <a:t>			Definir um limite de pessoas para cada reunião</a:t>
            </a:r>
          </a:p>
          <a:p>
            <a:r>
              <a:rPr lang="pt-BR" sz="2400" dirty="0"/>
              <a:t>			Conduza entrevistas separadas para usuários e gerência</a:t>
            </a:r>
          </a:p>
          <a:p>
            <a:r>
              <a:rPr lang="pt-BR" sz="2400" dirty="0"/>
              <a:t>			Prepare suas perguntas antes da entrevista</a:t>
            </a:r>
          </a:p>
          <a:p>
            <a:r>
              <a:rPr lang="pt-BR" sz="2400" dirty="0"/>
              <a:t>			Se possível gravar a entrevista ou fazer as devidas anotações da</a:t>
            </a:r>
          </a:p>
          <a:p>
            <a:r>
              <a:rPr lang="pt-BR" sz="2400" dirty="0"/>
              <a:t>			entrevista</a:t>
            </a:r>
          </a:p>
          <a:p>
            <a:r>
              <a:rPr lang="pt-BR" sz="2400" dirty="0"/>
              <a:t>			Dê a todos a sua atenção igual e total</a:t>
            </a:r>
          </a:p>
          <a:p>
            <a:r>
              <a:rPr lang="pt-BR" sz="2400" dirty="0"/>
              <a:t>			Controle a reunião 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601952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072" y="244200"/>
            <a:ext cx="8798680" cy="1142640"/>
          </a:xfrm>
        </p:spPr>
        <p:txBody>
          <a:bodyPr/>
          <a:lstStyle/>
          <a:p>
            <a:r>
              <a:rPr lang="pt-BR" dirty="0"/>
              <a:t>Determinar a relação entre tabelas</a:t>
            </a:r>
            <a:br>
              <a:rPr lang="pt-BR" dirty="0"/>
            </a:br>
            <a:r>
              <a:rPr lang="pt-BR" dirty="0"/>
              <a:t>          e as regras de negócio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96648" y="2022624"/>
            <a:ext cx="1199552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O estudo de caso: as bicicletas de Mike	</a:t>
            </a:r>
          </a:p>
          <a:p>
            <a:r>
              <a:rPr lang="pt-BR" sz="2400" dirty="0"/>
              <a:t>		Ao aprender a aplicar um conceito ou técnica específica de forma genérica, será possível aplicá-lo a qualquer outro banco de dados que estiver projetando</a:t>
            </a:r>
          </a:p>
          <a:p>
            <a:r>
              <a:rPr lang="pt-BR" sz="2400" dirty="0"/>
              <a:t>		Mike usa uma planilha eletrônica para cadastrar determinados dados da loja de bicicletas</a:t>
            </a:r>
          </a:p>
          <a:p>
            <a:r>
              <a:rPr lang="pt-BR" sz="2400" dirty="0"/>
              <a:t>		Declaração de missão 	</a:t>
            </a:r>
          </a:p>
          <a:p>
            <a:r>
              <a:rPr lang="pt-BR" sz="2400" dirty="0"/>
              <a:t>			O objetivo do banco de dados Bicicletas do Mike é manter os dados de que precisamos para dar suporte ao nosso negócio de vendas no varejo e as nossas operações de atendimento ao cliente.</a:t>
            </a:r>
          </a:p>
        </p:txBody>
      </p:sp>
    </p:spTree>
    <p:extLst>
      <p:ext uri="{BB962C8B-B14F-4D97-AF65-F5344CB8AC3E}">
        <p14:creationId xmlns:p14="http://schemas.microsoft.com/office/powerpoint/2010/main" val="1202200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072" y="244200"/>
            <a:ext cx="8798680" cy="1142640"/>
          </a:xfrm>
        </p:spPr>
        <p:txBody>
          <a:bodyPr/>
          <a:lstStyle/>
          <a:p>
            <a:r>
              <a:rPr lang="pt-BR" dirty="0"/>
              <a:t>Determinar a relação entre tabelas</a:t>
            </a:r>
            <a:br>
              <a:rPr lang="pt-BR" dirty="0"/>
            </a:br>
            <a:r>
              <a:rPr lang="pt-BR" dirty="0"/>
              <a:t>          e as regras de negócio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96648" y="2022624"/>
            <a:ext cx="1199552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	Objetivos da missão (Bicicletas do Mike)</a:t>
            </a:r>
          </a:p>
          <a:p>
            <a:endParaRPr lang="pt-BR" sz="2400" dirty="0"/>
          </a:p>
          <a:p>
            <a:r>
              <a:rPr lang="pt-BR" sz="2400" dirty="0"/>
              <a:t>			Manter informações de inventário completas.</a:t>
            </a:r>
          </a:p>
          <a:p>
            <a:endParaRPr lang="pt-BR" sz="2400" dirty="0"/>
          </a:p>
          <a:p>
            <a:r>
              <a:rPr lang="pt-BR" sz="2400" dirty="0"/>
              <a:t>			Manter informações completas do cliente.</a:t>
            </a:r>
          </a:p>
          <a:p>
            <a:endParaRPr lang="pt-BR" sz="2400" dirty="0"/>
          </a:p>
          <a:p>
            <a:r>
              <a:rPr lang="pt-BR" sz="2400" dirty="0"/>
              <a:t>			Acompanhar todas as vendas do cliente.</a:t>
            </a:r>
          </a:p>
          <a:p>
            <a:endParaRPr lang="pt-BR" sz="2400" dirty="0"/>
          </a:p>
          <a:p>
            <a:r>
              <a:rPr lang="pt-BR" sz="2400" dirty="0"/>
              <a:t>			Manter informações completas do fornecedor.</a:t>
            </a:r>
          </a:p>
          <a:p>
            <a:endParaRPr lang="pt-BR" sz="2400" dirty="0"/>
          </a:p>
          <a:p>
            <a:r>
              <a:rPr lang="pt-BR" sz="2400" dirty="0"/>
              <a:t>			Manter informações completas dos funcionários.</a:t>
            </a:r>
          </a:p>
        </p:txBody>
      </p:sp>
    </p:spTree>
    <p:extLst>
      <p:ext uri="{BB962C8B-B14F-4D97-AF65-F5344CB8AC3E}">
        <p14:creationId xmlns:p14="http://schemas.microsoft.com/office/powerpoint/2010/main" val="2276104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79" y="203200"/>
            <a:ext cx="11701145" cy="1183640"/>
          </a:xfrm>
        </p:spPr>
        <p:txBody>
          <a:bodyPr/>
          <a:lstStyle/>
          <a:p>
            <a:r>
              <a:rPr lang="pt-BR" dirty="0"/>
              <a:t>Planejar a modelagem de um banco de dados</a:t>
            </a:r>
            <a:br>
              <a:rPr lang="pt-BR" dirty="0"/>
            </a:br>
            <a:r>
              <a:rPr lang="pt-BR" dirty="0"/>
              <a:t>    a partir de uma lista de tabelas e campos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96648" y="2022624"/>
            <a:ext cx="1199552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Definindo a Lista de Tabelas Preliminares</a:t>
            </a:r>
          </a:p>
          <a:p>
            <a:r>
              <a:rPr lang="pt-BR" sz="2400" dirty="0"/>
              <a:t>		Lista Preliminar de campos (para identificar tabelas)</a:t>
            </a:r>
          </a:p>
          <a:p>
            <a:endParaRPr lang="pt-BR" sz="2400" dirty="0"/>
          </a:p>
          <a:p>
            <a:r>
              <a:rPr lang="pt-BR" sz="2400" dirty="0"/>
              <a:t>		Lista de Assuntos (para identificar tabelas)</a:t>
            </a:r>
          </a:p>
          <a:p>
            <a:endParaRPr lang="pt-BR" sz="2400" dirty="0"/>
          </a:p>
          <a:p>
            <a:r>
              <a:rPr lang="pt-BR" sz="2400" dirty="0"/>
              <a:t>		Verificar se existe duplicação das duas listas acima (das tabelas a serem usadas) e criar uma lista mais recente</a:t>
            </a:r>
          </a:p>
          <a:p>
            <a:endParaRPr lang="pt-BR" sz="2400" dirty="0"/>
          </a:p>
          <a:p>
            <a:r>
              <a:rPr lang="pt-BR" sz="2400" dirty="0"/>
              <a:t>		Verificar os objetivos da missão </a:t>
            </a:r>
          </a:p>
          <a:p>
            <a:endParaRPr lang="pt-BR" sz="2400" dirty="0"/>
          </a:p>
          <a:p>
            <a:r>
              <a:rPr lang="pt-BR" sz="2400" dirty="0"/>
              <a:t>		Listar as tabelas que deverão ser criadas 		</a:t>
            </a:r>
          </a:p>
        </p:txBody>
      </p:sp>
    </p:spTree>
    <p:extLst>
      <p:ext uri="{BB962C8B-B14F-4D97-AF65-F5344CB8AC3E}">
        <p14:creationId xmlns:p14="http://schemas.microsoft.com/office/powerpoint/2010/main" val="407270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79" y="203200"/>
            <a:ext cx="11701145" cy="1183640"/>
          </a:xfrm>
        </p:spPr>
        <p:txBody>
          <a:bodyPr/>
          <a:lstStyle/>
          <a:p>
            <a:r>
              <a:rPr lang="pt-BR" dirty="0"/>
              <a:t>Planejar a modelagem de um banco de dados</a:t>
            </a:r>
            <a:br>
              <a:rPr lang="pt-BR" dirty="0"/>
            </a:br>
            <a:r>
              <a:rPr lang="pt-BR" dirty="0"/>
              <a:t>    a partir de uma lista de tabelas e campos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193297" y="1636544"/>
            <a:ext cx="1199552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Diretrizes para criar nomes de tabela</a:t>
            </a:r>
          </a:p>
          <a:p>
            <a:r>
              <a:rPr lang="pt-BR" sz="2400" dirty="0"/>
              <a:t>		Crie um nome exclusivo e descritivo que seja significativo para toda a organização</a:t>
            </a:r>
          </a:p>
          <a:p>
            <a:r>
              <a:rPr lang="pt-BR" sz="2400" dirty="0"/>
              <a:t>			Ex.: </a:t>
            </a:r>
            <a:r>
              <a:rPr lang="pt-BR" sz="2400" dirty="0" err="1"/>
              <a:t>Manutencao_Veiculo</a:t>
            </a:r>
            <a:r>
              <a:rPr lang="pt-BR" sz="2400" dirty="0"/>
              <a:t> (OK)</a:t>
            </a:r>
          </a:p>
          <a:p>
            <a:r>
              <a:rPr lang="pt-BR" sz="2400" dirty="0"/>
              <a:t>		</a:t>
            </a:r>
          </a:p>
          <a:p>
            <a:r>
              <a:rPr lang="pt-BR" sz="2400" dirty="0"/>
              <a:t>		Crie um nome que identifique de forma precisa, clara e inequívoca o assunto da tabela</a:t>
            </a:r>
          </a:p>
          <a:p>
            <a:endParaRPr lang="pt-BR" sz="2400" dirty="0"/>
          </a:p>
          <a:p>
            <a:r>
              <a:rPr lang="pt-BR" sz="2400" dirty="0"/>
              <a:t>		Use o número mínimo de palavras necessário para transmitir o assunto da tabela	</a:t>
            </a:r>
          </a:p>
          <a:p>
            <a:r>
              <a:rPr lang="pt-BR" sz="2400" dirty="0"/>
              <a:t>			Ex.: EMVM (não OK)</a:t>
            </a:r>
          </a:p>
          <a:p>
            <a:r>
              <a:rPr lang="pt-BR" sz="2400" dirty="0"/>
              <a:t>			       </a:t>
            </a:r>
            <a:r>
              <a:rPr lang="pt-BR" sz="2400" dirty="0" err="1"/>
              <a:t>Equipamento_Manutencao_Veiculos_Multiuso</a:t>
            </a:r>
            <a:r>
              <a:rPr lang="pt-BR" sz="2400" dirty="0"/>
              <a:t> (Não OK)</a:t>
            </a:r>
          </a:p>
          <a:p>
            <a:r>
              <a:rPr lang="pt-BR" sz="2400" dirty="0"/>
              <a:t>			       Equipamento (OK)</a:t>
            </a:r>
          </a:p>
        </p:txBody>
      </p:sp>
    </p:spTree>
    <p:extLst>
      <p:ext uri="{BB962C8B-B14F-4D97-AF65-F5344CB8AC3E}">
        <p14:creationId xmlns:p14="http://schemas.microsoft.com/office/powerpoint/2010/main" val="2929714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79" y="203200"/>
            <a:ext cx="11701145" cy="1183640"/>
          </a:xfrm>
        </p:spPr>
        <p:txBody>
          <a:bodyPr/>
          <a:lstStyle/>
          <a:p>
            <a:r>
              <a:rPr lang="pt-BR" dirty="0"/>
              <a:t>Planejar a modelagem de um banco de dados</a:t>
            </a:r>
            <a:br>
              <a:rPr lang="pt-BR" dirty="0"/>
            </a:br>
            <a:r>
              <a:rPr lang="pt-BR" dirty="0"/>
              <a:t>    a partir de uma lista de tabelas e campos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96648" y="2022624"/>
            <a:ext cx="1199552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	Não use siglas e abreviações</a:t>
            </a:r>
          </a:p>
          <a:p>
            <a:r>
              <a:rPr lang="pt-BR" sz="2400" dirty="0"/>
              <a:t>			Ex.: SC (não OK)</a:t>
            </a:r>
          </a:p>
          <a:p>
            <a:endParaRPr lang="pt-BR" sz="2400" dirty="0"/>
          </a:p>
          <a:p>
            <a:r>
              <a:rPr lang="pt-BR" sz="2400" dirty="0"/>
              <a:t>		Não use nomes próprios ou outras palavras que restrinjam indevidamente os dados que podem ser inseridos na tabela</a:t>
            </a:r>
          </a:p>
          <a:p>
            <a:r>
              <a:rPr lang="pt-BR" sz="2400" dirty="0"/>
              <a:t>			Ex.: </a:t>
            </a:r>
            <a:r>
              <a:rPr lang="pt-BR" sz="2400" dirty="0" err="1"/>
              <a:t>Funcionarios_Regiao_Sudoeste</a:t>
            </a:r>
            <a:r>
              <a:rPr lang="pt-BR" sz="2400" dirty="0"/>
              <a:t> (não OK)</a:t>
            </a:r>
          </a:p>
          <a:p>
            <a:endParaRPr lang="pt-BR" sz="2400" dirty="0"/>
          </a:p>
          <a:p>
            <a:r>
              <a:rPr lang="pt-BR" sz="2400" dirty="0"/>
              <a:t>		Não use um nome que identifique implícita ou explicitamente mais de um assunto</a:t>
            </a:r>
          </a:p>
          <a:p>
            <a:r>
              <a:rPr lang="pt-BR" sz="2400" dirty="0"/>
              <a:t>			Ex.: </a:t>
            </a:r>
            <a:r>
              <a:rPr lang="pt-BR" sz="2400" dirty="0" err="1"/>
              <a:t>Departamento_ou_Filial</a:t>
            </a:r>
            <a:r>
              <a:rPr lang="pt-BR" sz="2400" dirty="0"/>
              <a:t> (não OK)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143901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79" y="203200"/>
            <a:ext cx="11701145" cy="1183640"/>
          </a:xfrm>
        </p:spPr>
        <p:txBody>
          <a:bodyPr/>
          <a:lstStyle/>
          <a:p>
            <a:r>
              <a:rPr lang="pt-BR" dirty="0"/>
              <a:t>Planejar a modelagem de um banco de dados</a:t>
            </a:r>
            <a:br>
              <a:rPr lang="pt-BR" dirty="0"/>
            </a:br>
            <a:r>
              <a:rPr lang="pt-BR" dirty="0"/>
              <a:t>    a partir de uma lista de tabelas e campos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96648" y="2022624"/>
            <a:ext cx="1199552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Analisar as colunas</a:t>
            </a:r>
          </a:p>
          <a:p>
            <a:endParaRPr lang="pt-BR" sz="2400" dirty="0"/>
          </a:p>
          <a:p>
            <a:r>
              <a:rPr lang="pt-BR" sz="2400" dirty="0"/>
              <a:t>		Vincular a coluna a tabela</a:t>
            </a:r>
          </a:p>
          <a:p>
            <a:endParaRPr lang="pt-BR" sz="2400" dirty="0"/>
          </a:p>
          <a:p>
            <a:r>
              <a:rPr lang="pt-BR" sz="2400" dirty="0"/>
              <a:t>		Criar um nome de coluna significativo</a:t>
            </a:r>
          </a:p>
          <a:p>
            <a:endParaRPr lang="pt-BR" sz="2400" dirty="0"/>
          </a:p>
          <a:p>
            <a:r>
              <a:rPr lang="pt-BR" sz="2400" dirty="0"/>
              <a:t>		Tratar colunas multipartes (novas colunas serão criadas)</a:t>
            </a:r>
          </a:p>
          <a:p>
            <a:endParaRPr lang="pt-BR" sz="2400" dirty="0"/>
          </a:p>
          <a:p>
            <a:r>
              <a:rPr lang="pt-BR" sz="2400" dirty="0"/>
              <a:t>		Tratar colunas multivaloradas (novas tabelas serão criadas)</a:t>
            </a:r>
          </a:p>
          <a:p>
            <a:r>
              <a:rPr lang="pt-BR" sz="2400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061827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0559" y="152400"/>
            <a:ext cx="8097521" cy="1183640"/>
          </a:xfrm>
        </p:spPr>
        <p:txBody>
          <a:bodyPr/>
          <a:lstStyle/>
          <a:p>
            <a:r>
              <a:rPr lang="pt-BR" dirty="0"/>
              <a:t>Planejando um banco de dados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96648" y="2022624"/>
            <a:ext cx="1199552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SELECT --&gt; Somente leitura. </a:t>
            </a:r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	INSERT, DELETE e UPDATE --&gt; Alteram dados no banco de dados. </a:t>
            </a:r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	CREATE, ALTER e DROP --&gt; Alteram estruturas no banco de dados. </a:t>
            </a:r>
          </a:p>
          <a:p>
            <a:r>
              <a:rPr lang="pt-BR" sz="2400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985017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0559" y="152400"/>
            <a:ext cx="8097521" cy="1183640"/>
          </a:xfrm>
        </p:spPr>
        <p:txBody>
          <a:bodyPr/>
          <a:lstStyle/>
          <a:p>
            <a:r>
              <a:rPr lang="pt-BR" dirty="0"/>
              <a:t>Planejando um banco de dados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-8445" y="1565424"/>
            <a:ext cx="1199552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Perguntas de design</a:t>
            </a:r>
          </a:p>
          <a:p>
            <a:endParaRPr lang="pt-BR" sz="2400" dirty="0"/>
          </a:p>
          <a:p>
            <a:r>
              <a:rPr lang="pt-BR" sz="2400" dirty="0"/>
              <a:t>		Quais são os requisitos do negócio?</a:t>
            </a:r>
          </a:p>
          <a:p>
            <a:endParaRPr lang="pt-BR" sz="2400" dirty="0"/>
          </a:p>
          <a:p>
            <a:r>
              <a:rPr lang="pt-BR" sz="2400" dirty="0"/>
              <a:t>		Quais tabelas precisarei para atender a esses requisitos?</a:t>
            </a:r>
          </a:p>
          <a:p>
            <a:endParaRPr lang="pt-BR" sz="2400" dirty="0"/>
          </a:p>
          <a:p>
            <a:r>
              <a:rPr lang="pt-BR" sz="2400" dirty="0"/>
              <a:t>		Quais colunas cada tabela conterá?</a:t>
            </a:r>
          </a:p>
          <a:p>
            <a:endParaRPr lang="pt-BR" sz="2400" dirty="0"/>
          </a:p>
          <a:p>
            <a:r>
              <a:rPr lang="pt-BR" sz="2400" dirty="0"/>
              <a:t>		Como as tabelas serão normalizadas?</a:t>
            </a:r>
          </a:p>
          <a:p>
            <a:endParaRPr lang="pt-BR" sz="2400" dirty="0"/>
          </a:p>
          <a:p>
            <a:r>
              <a:rPr lang="pt-BR" sz="2400" dirty="0"/>
              <a:t>		Quais serão seus relacionamentos pai/filho?</a:t>
            </a:r>
          </a:p>
        </p:txBody>
      </p:sp>
    </p:spTree>
    <p:extLst>
      <p:ext uri="{BB962C8B-B14F-4D97-AF65-F5344CB8AC3E}">
        <p14:creationId xmlns:p14="http://schemas.microsoft.com/office/powerpoint/2010/main" val="2679045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0559" y="152400"/>
            <a:ext cx="8097521" cy="1183640"/>
          </a:xfrm>
        </p:spPr>
        <p:txBody>
          <a:bodyPr/>
          <a:lstStyle/>
          <a:p>
            <a:r>
              <a:rPr lang="pt-BR" dirty="0"/>
              <a:t>Planejando um banco de dados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96648" y="2022624"/>
            <a:ext cx="1199552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Perguntas sobre dados</a:t>
            </a:r>
          </a:p>
          <a:p>
            <a:endParaRPr lang="pt-BR" sz="2400" dirty="0"/>
          </a:p>
          <a:p>
            <a:r>
              <a:rPr lang="pt-BR" sz="2400" dirty="0"/>
              <a:t>		Quantos dados serão preenchidos nessas tabelas?</a:t>
            </a:r>
          </a:p>
          <a:p>
            <a:endParaRPr lang="pt-BR" sz="2400" dirty="0"/>
          </a:p>
          <a:p>
            <a:r>
              <a:rPr lang="pt-BR" sz="2400" dirty="0"/>
              <a:t>		Quem/o que preencherá os dados nessas tabelas?</a:t>
            </a:r>
          </a:p>
          <a:p>
            <a:endParaRPr lang="pt-BR" sz="2400" dirty="0"/>
          </a:p>
          <a:p>
            <a:r>
              <a:rPr lang="pt-BR" sz="2400" dirty="0"/>
              <a:t>		De onde virão os dados?</a:t>
            </a:r>
          </a:p>
          <a:p>
            <a:endParaRPr lang="pt-BR" sz="2400" dirty="0"/>
          </a:p>
          <a:p>
            <a:r>
              <a:rPr lang="pt-BR" sz="2400" dirty="0"/>
              <a:t>		Precisamos de processos para preencher automaticamente as tabelas?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626470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0559" y="152400"/>
            <a:ext cx="8097521" cy="1183640"/>
          </a:xfrm>
        </p:spPr>
        <p:txBody>
          <a:bodyPr/>
          <a:lstStyle/>
          <a:p>
            <a:r>
              <a:rPr lang="pt-BR" dirty="0"/>
              <a:t>Planejando um banco de dados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331216" y="1341120"/>
            <a:ext cx="1152639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Questões de segurança</a:t>
            </a:r>
          </a:p>
          <a:p>
            <a:endParaRPr lang="pt-BR" sz="2400" dirty="0"/>
          </a:p>
          <a:p>
            <a:r>
              <a:rPr lang="pt-BR" sz="2400" dirty="0"/>
              <a:t>		Quem deve ter acesso a esta base de dados?</a:t>
            </a:r>
          </a:p>
          <a:p>
            <a:endParaRPr lang="pt-BR" sz="2400" dirty="0"/>
          </a:p>
          <a:p>
            <a:r>
              <a:rPr lang="pt-BR" sz="2400" dirty="0"/>
              <a:t>		Quem deve ter acesso a quais tabelas? Acesso somente leitura?</a:t>
            </a:r>
            <a:br>
              <a:rPr lang="pt-BR" sz="2400" dirty="0"/>
            </a:br>
            <a:r>
              <a:rPr lang="pt-BR" sz="2400" dirty="0"/>
              <a:t>                      Acesso de gravação?</a:t>
            </a:r>
          </a:p>
          <a:p>
            <a:endParaRPr lang="pt-BR" sz="2400" dirty="0"/>
          </a:p>
          <a:p>
            <a:r>
              <a:rPr lang="pt-BR" sz="2400" dirty="0"/>
              <a:t>		Esse banco de dados é crítico para as operações de negócios?</a:t>
            </a:r>
          </a:p>
          <a:p>
            <a:endParaRPr lang="pt-BR" sz="2400" dirty="0"/>
          </a:p>
          <a:p>
            <a:r>
              <a:rPr lang="pt-BR" sz="2400" dirty="0"/>
              <a:t>		Que planos de backup temos em caso de desastre/falha?</a:t>
            </a:r>
          </a:p>
          <a:p>
            <a:endParaRPr lang="pt-BR" sz="2400" dirty="0"/>
          </a:p>
          <a:p>
            <a:r>
              <a:rPr lang="pt-BR" sz="2400" dirty="0"/>
              <a:t>		As alterações nas tabelas devem ser registradas?</a:t>
            </a:r>
          </a:p>
        </p:txBody>
      </p:sp>
    </p:spTree>
    <p:extLst>
      <p:ext uri="{BB962C8B-B14F-4D97-AF65-F5344CB8AC3E}">
        <p14:creationId xmlns:p14="http://schemas.microsoft.com/office/powerpoint/2010/main" val="30914553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0558" y="81280"/>
            <a:ext cx="8097521" cy="711200"/>
          </a:xfrm>
        </p:spPr>
        <p:txBody>
          <a:bodyPr/>
          <a:lstStyle/>
          <a:p>
            <a:r>
              <a:rPr lang="pt-BR" dirty="0"/>
              <a:t>Planejando um banco de dados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0" y="656967"/>
            <a:ext cx="1210056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Chave Primária (1 coluna ou mais colunas)</a:t>
            </a:r>
          </a:p>
          <a:p>
            <a:r>
              <a:rPr lang="pt-BR" sz="2400" dirty="0"/>
              <a:t>	Chave Estrangeira (chave primária na tabela mãe e chave estrangeira na tabela filha)</a:t>
            </a:r>
          </a:p>
          <a:p>
            <a:r>
              <a:rPr lang="pt-BR" sz="2400" dirty="0"/>
              <a:t>	Esquema --&gt; Mostra um diagrama suas tabelas, suas colunas e seus relacionamentos. </a:t>
            </a:r>
          </a:p>
          <a:p>
            <a:r>
              <a:rPr lang="pt-BR" sz="2400" dirty="0"/>
              <a:t>		O lado sem seta é o lado que aponta para a chave primária. </a:t>
            </a:r>
          </a:p>
          <a:p>
            <a:r>
              <a:rPr lang="pt-BR" sz="2400" dirty="0"/>
              <a:t>		O lado com seta é o lado que aponta para a chave estrangeira. </a:t>
            </a:r>
          </a:p>
          <a:p>
            <a:r>
              <a:rPr lang="pt-BR" sz="2400" dirty="0"/>
              <a:t>		Verificar se o esquema através de um número pequeno de tabelas.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1862F3A-8DD3-F78F-F2AB-F5DA00F6B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451" y="3703955"/>
            <a:ext cx="5933733" cy="288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385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4333</TotalTime>
  <Words>1385</Words>
  <Application>Microsoft Office PowerPoint</Application>
  <PresentationFormat>Personalizar</PresentationFormat>
  <Paragraphs>156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3" baseType="lpstr">
      <vt:lpstr>Arial</vt:lpstr>
      <vt:lpstr>Calibri</vt:lpstr>
      <vt:lpstr>Symbol</vt:lpstr>
      <vt:lpstr>Times New Roman</vt:lpstr>
      <vt:lpstr>Wingdings</vt:lpstr>
      <vt:lpstr>Office Theme</vt:lpstr>
      <vt:lpstr>Apresentação do PowerPoint</vt:lpstr>
      <vt:lpstr>Determinar a relação entre tabelas           e as regras de negócio</vt:lpstr>
      <vt:lpstr>Determinar a relação entre tabelas           e as regras de negócio</vt:lpstr>
      <vt:lpstr>Determinar a relação entre tabelas           e as regras de negócio</vt:lpstr>
      <vt:lpstr>Determinar a relação entre tabelas           e as regras de negócio</vt:lpstr>
      <vt:lpstr>Determinar a relação entre tabelas           e as regras de negócio</vt:lpstr>
      <vt:lpstr>Determinar a relação entre tabelas           e as regras de negócio</vt:lpstr>
      <vt:lpstr>Determinar a relação entre tabelas           e as regras de negócio</vt:lpstr>
      <vt:lpstr>Planejar a modelagem de um banco de dados     a partir de uma lista de tabelas e campos</vt:lpstr>
      <vt:lpstr>Planejar a modelagem de um banco de dados     a partir de uma lista de tabelas e campos</vt:lpstr>
      <vt:lpstr>Planejar a modelagem de um banco de dados     a partir de uma lista de tabelas e campos</vt:lpstr>
      <vt:lpstr>Planejar a modelagem de um banco de dados     a partir de uma lista de tabelas e campos</vt:lpstr>
      <vt:lpstr>Planejando um banco de dados</vt:lpstr>
      <vt:lpstr>Planejando um banco de dados</vt:lpstr>
      <vt:lpstr>Planejando um banco de dados</vt:lpstr>
      <vt:lpstr>Planejando um banco de dados</vt:lpstr>
      <vt:lpstr>Planejando um banco de dados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Administração de Banco de Dados Oracle: Introdução</dc:title>
  <dc:subject/>
  <dc:creator>Junior®</dc:creator>
  <dc:description/>
  <cp:lastModifiedBy>Carlos Eduardo Gertners De Magalhaes</cp:lastModifiedBy>
  <cp:revision>364</cp:revision>
  <dcterms:created xsi:type="dcterms:W3CDTF">2017-04-22T16:06:56Z</dcterms:created>
  <dcterms:modified xsi:type="dcterms:W3CDTF">2024-04-26T01:16:40Z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Personalizar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19</vt:i4>
  </property>
</Properties>
</file>