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88825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4754" autoAdjust="0"/>
    <p:restoredTop sz="94660"/>
  </p:normalViewPr>
  <p:slideViewPr>
    <p:cSldViewPr snapToGrid="0">
      <p:cViewPr varScale="1">
        <p:scale>
          <a:sx n="93" d="100"/>
          <a:sy n="93" d="100"/>
        </p:scale>
        <p:origin x="878" y="1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9480" y="274680"/>
            <a:ext cx="10969560" cy="529776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120" y="3682080"/>
            <a:ext cx="109695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0160" y="160452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12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0160" y="3682080"/>
            <a:ext cx="53528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lIns="0" tIns="0" rIns="0" bIns="0" anchor="ctr"/>
          <a:lstStyle/>
          <a:p>
            <a:endParaRPr lang="pt-BR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1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820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6920" y="160452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1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820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6920" y="3682080"/>
            <a:ext cx="353196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4680"/>
            <a:ext cx="10969560" cy="1142640"/>
          </a:xfrm>
          <a:prstGeom prst="rect">
            <a:avLst/>
          </a:prstGeom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Clique para editar o título mestre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dt"/>
          </p:nvPr>
        </p:nvSpPr>
        <p:spPr>
          <a:xfrm>
            <a:off x="60948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>
              <a:lnSpc>
                <a:spcPct val="100000"/>
              </a:lnSpc>
            </a:pPr>
            <a:fld id="{8A948C2A-F109-4E83-A9F2-E19E77B6B463}" type="datetime">
              <a:rPr lang="pt-BR" sz="1200" b="0" strike="noStrike" spc="-1">
                <a:solidFill>
                  <a:srgbClr val="8B8B8B"/>
                </a:solidFill>
                <a:latin typeface="Calibri"/>
              </a:rPr>
              <a:t>20/04/2023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164480" y="6356520"/>
            <a:ext cx="3859560" cy="364680"/>
          </a:xfrm>
          <a:prstGeom prst="rect">
            <a:avLst/>
          </a:prstGeom>
        </p:spPr>
        <p:txBody>
          <a:bodyPr anchor="ctr"/>
          <a:lstStyle/>
          <a:p>
            <a:endParaRPr lang="pt-BR" sz="24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735400" y="6356520"/>
            <a:ext cx="2843640" cy="364680"/>
          </a:xfrm>
          <a:prstGeom prst="rect">
            <a:avLst/>
          </a:prstGeom>
        </p:spPr>
        <p:txBody>
          <a:bodyPr anchor="ctr"/>
          <a:lstStyle/>
          <a:p>
            <a:pPr algn="r">
              <a:lnSpc>
                <a:spcPct val="100000"/>
              </a:lnSpc>
            </a:pPr>
            <a:fld id="{B051EBB1-01F8-4ED5-87FB-6B0984AB0840}" type="slidenum">
              <a:rPr lang="pt-BR" sz="1200" b="0" strike="noStrike" spc="-1">
                <a:solidFill>
                  <a:srgbClr val="8B8B8B"/>
                </a:solidFill>
                <a:latin typeface="Calibri"/>
              </a:rPr>
              <a:t>‹nº›</a:t>
            </a:fld>
            <a:endParaRPr lang="pt-BR" sz="12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956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solidFill>
                  <a:srgbClr val="000000"/>
                </a:solidFill>
                <a:latin typeface="Calibri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strike="noStrike" spc="-1">
                <a:solidFill>
                  <a:srgbClr val="000000"/>
                </a:solidFill>
                <a:latin typeface="Calibri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solidFill>
                  <a:srgbClr val="000000"/>
                </a:solidFill>
                <a:latin typeface="Calibri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Shape 1"/>
          <p:cNvSpPr txBox="1"/>
          <p:nvPr/>
        </p:nvSpPr>
        <p:spPr>
          <a:xfrm>
            <a:off x="609480" y="274680"/>
            <a:ext cx="10969560" cy="1142640"/>
          </a:xfrm>
          <a:prstGeom prst="rect">
            <a:avLst/>
          </a:prstGeom>
          <a:noFill/>
          <a:ln>
            <a:noFill/>
          </a:ln>
        </p:spPr>
        <p:txBody>
          <a:bodyPr anchor="ctr">
            <a:normAutofit fontScale="47500" lnSpcReduction="20000"/>
          </a:bodyPr>
          <a:lstStyle/>
          <a:p>
            <a:pPr algn="ctr">
              <a:lnSpc>
                <a:spcPct val="100000"/>
              </a:lnSpc>
            </a:pPr>
            <a:br/>
            <a:br/>
            <a:br/>
            <a:br/>
            <a:br/>
            <a:br/>
            <a:br/>
            <a:r>
              <a:rPr lang="pt-BR" sz="4400" b="0" strike="noStrike" spc="-1">
                <a:solidFill>
                  <a:srgbClr val="000000"/>
                </a:solidFill>
                <a:latin typeface="Calibri"/>
              </a:rPr>
              <a:t>Administração de Banco de Dados Oracle: Introdução</a:t>
            </a:r>
          </a:p>
        </p:txBody>
      </p:sp>
      <p:sp>
        <p:nvSpPr>
          <p:cNvPr id="42" name="CustomShape 2"/>
          <p:cNvSpPr/>
          <p:nvPr/>
        </p:nvSpPr>
        <p:spPr>
          <a:xfrm>
            <a:off x="8974800" y="3429000"/>
            <a:ext cx="2808000" cy="1461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  <a:p>
            <a:pPr>
              <a:lnSpc>
                <a:spcPct val="100000"/>
              </a:lnSpc>
            </a:pPr>
            <a:endParaRPr lang="pt-BR" sz="1800" b="0" strike="noStrike" spc="-1">
              <a:latin typeface="Arial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B84861D-9534-C0EC-5C91-7C0429ABAD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37" y="342900"/>
            <a:ext cx="11029950" cy="6172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p15="http://schemas.microsoft.com/office/powerpoint/2012/main"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Entender a evolução histórica dos </a:t>
            </a:r>
            <a:br>
              <a:rPr lang="pt-BR" dirty="0"/>
            </a:br>
            <a:r>
              <a:rPr lang="pt-BR" dirty="0"/>
              <a:t>      bancos de dados relacionais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609480" y="2459504"/>
            <a:ext cx="1111516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Banco de Dados Relacional (Início dos anos 1970)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Banco de Dados Operacional (OLTP)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Banco de Dados Analítico (OLAP)</a:t>
            </a:r>
          </a:p>
        </p:txBody>
      </p:sp>
    </p:spTree>
    <p:extLst>
      <p:ext uri="{BB962C8B-B14F-4D97-AF65-F5344CB8AC3E}">
        <p14:creationId xmlns:p14="http://schemas.microsoft.com/office/powerpoint/2010/main" val="3101473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Entender a evolução histórica dos </a:t>
            </a:r>
            <a:br>
              <a:rPr lang="pt-BR" dirty="0"/>
            </a:br>
            <a:r>
              <a:rPr lang="pt-BR" dirty="0"/>
              <a:t>      bancos de dados relacionais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536832" y="1585744"/>
            <a:ext cx="111151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Modelo de Dados Hierárquico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849DB6A-2D9A-9134-9294-DD9675C3A2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406" y="2038202"/>
            <a:ext cx="7920673" cy="447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5297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Entender a evolução histórica dos </a:t>
            </a:r>
            <a:br>
              <a:rPr lang="pt-BR" dirty="0"/>
            </a:br>
            <a:r>
              <a:rPr lang="pt-BR" dirty="0"/>
              <a:t>      bancos de dados relacionais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536832" y="1585744"/>
            <a:ext cx="111151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Modelo de Dados em Rede</a:t>
            </a:r>
          </a:p>
          <a:p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43F7A2B-DCB2-21F9-D47A-74EFEE22A3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872" y="2001242"/>
            <a:ext cx="7914005" cy="442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502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Entender a evolução histórica dos </a:t>
            </a:r>
            <a:br>
              <a:rPr lang="pt-BR" dirty="0"/>
            </a:br>
            <a:r>
              <a:rPr lang="pt-BR" dirty="0"/>
              <a:t>      bancos de dados relacionais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536832" y="1585744"/>
            <a:ext cx="1111516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Modelo de Dados Relacional</a:t>
            </a:r>
          </a:p>
          <a:p>
            <a:endParaRPr lang="pt-BR" sz="2400" dirty="0"/>
          </a:p>
          <a:p>
            <a:r>
              <a:rPr lang="pt-BR" sz="2400" dirty="0"/>
              <a:t>	Redundância de Dados</a:t>
            </a:r>
          </a:p>
          <a:p>
            <a:endParaRPr lang="pt-BR" sz="2400" dirty="0"/>
          </a:p>
          <a:p>
            <a:r>
              <a:rPr lang="pt-BR" sz="2400" dirty="0"/>
              <a:t>	Integridade de Dados</a:t>
            </a:r>
          </a:p>
          <a:p>
            <a:endParaRPr lang="pt-BR" sz="2400" dirty="0"/>
          </a:p>
          <a:p>
            <a:r>
              <a:rPr lang="pt-BR" sz="2400" dirty="0"/>
              <a:t>	Dependência da implementação física</a:t>
            </a:r>
          </a:p>
          <a:p>
            <a:endParaRPr lang="pt-BR" sz="2400" dirty="0"/>
          </a:p>
          <a:p>
            <a:r>
              <a:rPr lang="pt-BR" sz="2400" dirty="0"/>
              <a:t>	Foram usados conceitos matemáticos (teoria dos conjuntos e lógica de predicados de primeira ordem)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662089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244200"/>
            <a:ext cx="8798680" cy="1142640"/>
          </a:xfrm>
        </p:spPr>
        <p:txBody>
          <a:bodyPr/>
          <a:lstStyle/>
          <a:p>
            <a:r>
              <a:rPr lang="pt-BR" dirty="0"/>
              <a:t>Entender a evolução histórica dos </a:t>
            </a:r>
            <a:br>
              <a:rPr lang="pt-BR" dirty="0"/>
            </a:br>
            <a:r>
              <a:rPr lang="pt-BR" dirty="0"/>
              <a:t>      bancos de dados relacionais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536832" y="1585744"/>
            <a:ext cx="1111516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Modelo de Dados Relacional</a:t>
            </a:r>
          </a:p>
          <a:p>
            <a:endParaRPr lang="pt-BR" sz="2400" dirty="0"/>
          </a:p>
          <a:p>
            <a:r>
              <a:rPr lang="pt-BR" sz="2400" dirty="0"/>
              <a:t>	</a:t>
            </a:r>
            <a:r>
              <a:rPr lang="pt-BR" sz="2400" dirty="0" err="1"/>
              <a:t>Tupla</a:t>
            </a:r>
            <a:r>
              <a:rPr lang="pt-BR" sz="2400" dirty="0"/>
              <a:t> (linha, registro)</a:t>
            </a:r>
          </a:p>
          <a:p>
            <a:endParaRPr lang="pt-BR" sz="2400" dirty="0"/>
          </a:p>
          <a:p>
            <a:r>
              <a:rPr lang="pt-BR" sz="2400" dirty="0"/>
              <a:t>	Relação (entidade, tabela)</a:t>
            </a:r>
          </a:p>
          <a:p>
            <a:endParaRPr lang="pt-BR" sz="2400" dirty="0"/>
          </a:p>
          <a:p>
            <a:r>
              <a:rPr lang="pt-BR" sz="2400" dirty="0"/>
              <a:t>	Atributo (campo, coluna)</a:t>
            </a:r>
          </a:p>
          <a:p>
            <a:endParaRPr lang="pt-BR" sz="2400" dirty="0"/>
          </a:p>
          <a:p>
            <a:r>
              <a:rPr lang="pt-BR" sz="2400" dirty="0"/>
              <a:t>	Recuperação de Dados (SQL com o comando SELECT)</a:t>
            </a:r>
          </a:p>
        </p:txBody>
      </p:sp>
    </p:spTree>
    <p:extLst>
      <p:ext uri="{BB962C8B-B14F-4D97-AF65-F5344CB8AC3E}">
        <p14:creationId xmlns:p14="http://schemas.microsoft.com/office/powerpoint/2010/main" val="2862323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91800"/>
            <a:ext cx="8798680" cy="1142640"/>
          </a:xfrm>
        </p:spPr>
        <p:txBody>
          <a:bodyPr/>
          <a:lstStyle/>
          <a:p>
            <a:r>
              <a:rPr lang="pt-BR" dirty="0"/>
              <a:t>Entender a evolução histórica dos </a:t>
            </a:r>
            <a:br>
              <a:rPr lang="pt-BR" dirty="0"/>
            </a:br>
            <a:r>
              <a:rPr lang="pt-BR" dirty="0"/>
              <a:t>      bancos de dados relacionais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332868" y="1234440"/>
            <a:ext cx="11523088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Modelo de Dados Relacional</a:t>
            </a:r>
          </a:p>
          <a:p>
            <a:endParaRPr lang="pt-BR" sz="2400" dirty="0"/>
          </a:p>
          <a:p>
            <a:r>
              <a:rPr lang="pt-BR" sz="2400" dirty="0"/>
              <a:t>	Vantagens de um banco de dados relacional (comparado aos modelos anteriores)</a:t>
            </a:r>
          </a:p>
          <a:p>
            <a:r>
              <a:rPr lang="pt-BR" sz="2400" dirty="0"/>
              <a:t>		Integridade multinível incorporada</a:t>
            </a:r>
          </a:p>
          <a:p>
            <a:endParaRPr lang="pt-BR" sz="2400" dirty="0"/>
          </a:p>
          <a:p>
            <a:r>
              <a:rPr lang="pt-BR" sz="2400" dirty="0"/>
              <a:t>			Nível de campo (precisão do dado)</a:t>
            </a:r>
          </a:p>
          <a:p>
            <a:endParaRPr lang="pt-BR" sz="2400" dirty="0"/>
          </a:p>
          <a:p>
            <a:r>
              <a:rPr lang="pt-BR" sz="2400" dirty="0"/>
              <a:t>			Nível da tabela (sem registros duplicados e sem ausência de </a:t>
            </a:r>
          </a:p>
          <a:p>
            <a:r>
              <a:rPr lang="pt-BR" sz="2400" dirty="0"/>
              <a:t>chave primária)</a:t>
            </a:r>
          </a:p>
          <a:p>
            <a:endParaRPr lang="pt-BR" sz="2400" dirty="0"/>
          </a:p>
          <a:p>
            <a:r>
              <a:rPr lang="pt-BR" sz="2400" dirty="0"/>
              <a:t>			Nível de relacionamento (relacionamento entre tabelas)</a:t>
            </a:r>
          </a:p>
          <a:p>
            <a:endParaRPr lang="pt-BR" sz="2400" dirty="0"/>
          </a:p>
          <a:p>
            <a:r>
              <a:rPr lang="pt-BR" sz="2400" dirty="0"/>
              <a:t>			Nível de negócio (consistência do dado na visão do negócio)</a:t>
            </a:r>
          </a:p>
        </p:txBody>
      </p:sp>
    </p:spTree>
    <p:extLst>
      <p:ext uri="{BB962C8B-B14F-4D97-AF65-F5344CB8AC3E}">
        <p14:creationId xmlns:p14="http://schemas.microsoft.com/office/powerpoint/2010/main" val="1689757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91800"/>
            <a:ext cx="8798680" cy="1142640"/>
          </a:xfrm>
        </p:spPr>
        <p:txBody>
          <a:bodyPr/>
          <a:lstStyle/>
          <a:p>
            <a:r>
              <a:rPr lang="pt-BR" dirty="0"/>
              <a:t>Entender a evolução histórica dos </a:t>
            </a:r>
            <a:br>
              <a:rPr lang="pt-BR" dirty="0"/>
            </a:br>
            <a:r>
              <a:rPr lang="pt-BR" dirty="0"/>
              <a:t>      bancos de dados relacionais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332868" y="1539240"/>
            <a:ext cx="1152308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Modelo de Dados Relacional</a:t>
            </a:r>
          </a:p>
          <a:p>
            <a:endParaRPr lang="pt-BR" sz="2400" dirty="0"/>
          </a:p>
          <a:p>
            <a:r>
              <a:rPr lang="pt-BR" sz="2400" dirty="0"/>
              <a:t>	Vantagens de um banco de dados relacional (comparado aos modelos anteriores)</a:t>
            </a:r>
          </a:p>
          <a:p>
            <a:r>
              <a:rPr lang="pt-BR" sz="2400" dirty="0"/>
              <a:t>		Independência de dados lógicos e físicos de aplicativos de banco de dados</a:t>
            </a:r>
          </a:p>
          <a:p>
            <a:endParaRPr lang="pt-BR" sz="2400" dirty="0"/>
          </a:p>
          <a:p>
            <a:r>
              <a:rPr lang="pt-BR" sz="2400" dirty="0"/>
              <a:t>		Consistência e precisão de dados garantidas (devido aos vários níveis de integridade)</a:t>
            </a:r>
          </a:p>
          <a:p>
            <a:endParaRPr lang="pt-BR" sz="2400" dirty="0"/>
          </a:p>
          <a:p>
            <a:r>
              <a:rPr lang="pt-BR" sz="2400" dirty="0"/>
              <a:t>		Fácil recuperação de dados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264065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91800"/>
            <a:ext cx="8798680" cy="1142640"/>
          </a:xfrm>
        </p:spPr>
        <p:txBody>
          <a:bodyPr/>
          <a:lstStyle/>
          <a:p>
            <a:r>
              <a:rPr lang="pt-BR" dirty="0"/>
              <a:t>Entender a evolução histórica dos </a:t>
            </a:r>
            <a:br>
              <a:rPr lang="pt-BR" dirty="0"/>
            </a:br>
            <a:r>
              <a:rPr lang="pt-BR" dirty="0"/>
              <a:t>      bancos de dados relacionais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332868" y="1915160"/>
            <a:ext cx="1152308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Modelo de Dados Relacional</a:t>
            </a:r>
          </a:p>
          <a:p>
            <a:endParaRPr lang="pt-BR" sz="2400" dirty="0"/>
          </a:p>
          <a:p>
            <a:r>
              <a:rPr lang="pt-BR" sz="2400" dirty="0"/>
              <a:t>	SGBD</a:t>
            </a:r>
          </a:p>
          <a:p>
            <a:endParaRPr lang="pt-BR" sz="2400" dirty="0"/>
          </a:p>
          <a:p>
            <a:r>
              <a:rPr lang="pt-BR" sz="2400" dirty="0"/>
              <a:t>	SGBDR (RDBMS)			</a:t>
            </a:r>
          </a:p>
          <a:p>
            <a:endParaRPr lang="pt-BR" sz="2400" dirty="0"/>
          </a:p>
          <a:p>
            <a:r>
              <a:rPr lang="pt-BR" sz="2400" dirty="0"/>
              <a:t>	SGBDC</a:t>
            </a:r>
          </a:p>
          <a:p>
            <a:endParaRPr lang="pt-BR" sz="2400" dirty="0"/>
          </a:p>
          <a:p>
            <a:r>
              <a:rPr lang="pt-BR" sz="2400" dirty="0"/>
              <a:t>	SGBDD</a:t>
            </a:r>
          </a:p>
        </p:txBody>
      </p:sp>
    </p:spTree>
    <p:extLst>
      <p:ext uri="{BB962C8B-B14F-4D97-AF65-F5344CB8AC3E}">
        <p14:creationId xmlns:p14="http://schemas.microsoft.com/office/powerpoint/2010/main" val="1498683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5072" y="91800"/>
            <a:ext cx="8798680" cy="1142640"/>
          </a:xfrm>
        </p:spPr>
        <p:txBody>
          <a:bodyPr/>
          <a:lstStyle/>
          <a:p>
            <a:r>
              <a:rPr lang="pt-BR" dirty="0"/>
              <a:t>Entender a evolução histórica dos </a:t>
            </a:r>
            <a:br>
              <a:rPr lang="pt-BR" dirty="0"/>
            </a:br>
            <a:r>
              <a:rPr lang="pt-BR" dirty="0"/>
              <a:t>      bancos de dados relacionais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332868" y="1915160"/>
            <a:ext cx="116762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CAD (desenho assistido por computador), Sistema de Informação Geográfica e Sistema de Armazenamento Multimídia.</a:t>
            </a:r>
          </a:p>
          <a:p>
            <a:endParaRPr lang="pt-BR" sz="2400" dirty="0"/>
          </a:p>
          <a:p>
            <a:r>
              <a:rPr lang="pt-BR" sz="2400" dirty="0"/>
              <a:t>Banco de Dados Orientado a Objetos </a:t>
            </a:r>
          </a:p>
          <a:p>
            <a:endParaRPr lang="pt-BR" sz="2400" dirty="0"/>
          </a:p>
          <a:p>
            <a:r>
              <a:rPr lang="pt-BR" sz="2400" dirty="0"/>
              <a:t>Banco de Dados Relacional Objeto (Banco de Dados Relacional </a:t>
            </a:r>
            <a:r>
              <a:rPr lang="pt-BR" sz="2400" dirty="0" err="1"/>
              <a:t>Extendido</a:t>
            </a:r>
            <a:r>
              <a:rPr lang="pt-BR" sz="2400" dirty="0"/>
              <a:t>)</a:t>
            </a:r>
          </a:p>
          <a:p>
            <a:endParaRPr lang="pt-BR" sz="2400" dirty="0"/>
          </a:p>
          <a:p>
            <a:r>
              <a:rPr lang="pt-BR" sz="2400" dirty="0"/>
              <a:t>DW (Data </a:t>
            </a:r>
            <a:r>
              <a:rPr lang="pt-BR" sz="2400" dirty="0" err="1"/>
              <a:t>Warehouse</a:t>
            </a:r>
            <a:r>
              <a:rPr lang="pt-BR" sz="2400" dirty="0"/>
              <a:t>) </a:t>
            </a:r>
          </a:p>
          <a:p>
            <a:endParaRPr lang="pt-BR" sz="2400" dirty="0"/>
          </a:p>
          <a:p>
            <a:r>
              <a:rPr lang="pt-BR" sz="2400" dirty="0"/>
              <a:t>Acesso a Dados pela Internet (modelo XML - menciona dados XML - reuni dados relacionais e dados não relacionais)</a:t>
            </a:r>
          </a:p>
        </p:txBody>
      </p:sp>
    </p:spTree>
    <p:extLst>
      <p:ext uri="{BB962C8B-B14F-4D97-AF65-F5344CB8AC3E}">
        <p14:creationId xmlns:p14="http://schemas.microsoft.com/office/powerpoint/2010/main" val="1723350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9948288" cy="1142640"/>
          </a:xfrm>
        </p:spPr>
        <p:txBody>
          <a:bodyPr/>
          <a:lstStyle/>
          <a:p>
            <a:r>
              <a:rPr lang="pt-BR" dirty="0"/>
              <a:t>Entender as vantagens de projetar um banco de dados usando boas práticas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332868" y="1915160"/>
            <a:ext cx="116762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Ferramentas de Design de Banco de Dados (</a:t>
            </a:r>
            <a:r>
              <a:rPr lang="pt-BR" sz="2400" dirty="0" err="1"/>
              <a:t>DBDesigner</a:t>
            </a:r>
            <a:r>
              <a:rPr lang="pt-BR" sz="2400" dirty="0"/>
              <a:t>, </a:t>
            </a:r>
            <a:r>
              <a:rPr lang="pt-BR" sz="2400" dirty="0" err="1"/>
              <a:t>brModelo</a:t>
            </a:r>
            <a:r>
              <a:rPr lang="pt-BR" sz="2400" dirty="0"/>
              <a:t>, MySQL Workbench, etc.)</a:t>
            </a:r>
          </a:p>
          <a:p>
            <a:endParaRPr lang="pt-BR" sz="2400" dirty="0"/>
          </a:p>
          <a:p>
            <a:r>
              <a:rPr lang="pt-BR" sz="2400" dirty="0"/>
              <a:t>		Levantamento de Requisitos</a:t>
            </a:r>
          </a:p>
          <a:p>
            <a:endParaRPr lang="pt-BR" sz="2400" dirty="0"/>
          </a:p>
          <a:p>
            <a:r>
              <a:rPr lang="pt-BR" sz="2400" dirty="0"/>
              <a:t>		Modelo Conceitual</a:t>
            </a:r>
          </a:p>
          <a:p>
            <a:endParaRPr lang="pt-BR" sz="2400" dirty="0"/>
          </a:p>
          <a:p>
            <a:r>
              <a:rPr lang="pt-BR" sz="2400" dirty="0"/>
              <a:t>		Modelo Lógico</a:t>
            </a:r>
          </a:p>
          <a:p>
            <a:endParaRPr lang="pt-BR" sz="2400" dirty="0"/>
          </a:p>
          <a:p>
            <a:r>
              <a:rPr lang="pt-BR" sz="2400" dirty="0"/>
              <a:t>		Modelo Físico</a:t>
            </a:r>
          </a:p>
        </p:txBody>
      </p:sp>
    </p:spTree>
    <p:extLst>
      <p:ext uri="{BB962C8B-B14F-4D97-AF65-F5344CB8AC3E}">
        <p14:creationId xmlns:p14="http://schemas.microsoft.com/office/powerpoint/2010/main" val="2512075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9948288" cy="1142640"/>
          </a:xfrm>
        </p:spPr>
        <p:txBody>
          <a:bodyPr/>
          <a:lstStyle/>
          <a:p>
            <a:r>
              <a:rPr lang="pt-BR" dirty="0"/>
              <a:t>Entender as vantagens de projetar um banco de dados usando boas práticas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256286" y="1536174"/>
            <a:ext cx="116762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Principal razão do Design do Banco de Dados (consistência, integridade e precisão dos dados)</a:t>
            </a:r>
          </a:p>
          <a:p>
            <a:endParaRPr lang="pt-BR" sz="2400" dirty="0"/>
          </a:p>
          <a:p>
            <a:r>
              <a:rPr lang="pt-BR" sz="2400" dirty="0"/>
              <a:t>	Analogia com a criação de uma casa </a:t>
            </a:r>
          </a:p>
          <a:p>
            <a:r>
              <a:rPr lang="pt-BR" sz="2400" dirty="0"/>
              <a:t>		Primeiro - arquiteto - dimensões, formas, sistemas estruturais, sistemas mecânicos, sistemas elétricos)</a:t>
            </a:r>
          </a:p>
          <a:p>
            <a:r>
              <a:rPr lang="pt-BR" sz="2400" dirty="0"/>
              <a:t>		Segundo - empreiteiro - contratar mão de obra e comprar os materiais e construir seguindo os desenhos e as especificações</a:t>
            </a:r>
          </a:p>
          <a:p>
            <a:endParaRPr lang="pt-BR" sz="2400" dirty="0"/>
          </a:p>
          <a:p>
            <a:r>
              <a:rPr lang="pt-BR" sz="2400" dirty="0"/>
              <a:t>	Em uma base de dados com 2 tabelas ao usar a teoria de banco de bancos relacional é sabido que será necessário usar o conceito de chave primária e chave estrangeira. </a:t>
            </a:r>
          </a:p>
        </p:txBody>
      </p:sp>
    </p:spTree>
    <p:extLst>
      <p:ext uri="{BB962C8B-B14F-4D97-AF65-F5344CB8AC3E}">
        <p14:creationId xmlns:p14="http://schemas.microsoft.com/office/powerpoint/2010/main" val="185360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9948288" cy="1142640"/>
          </a:xfrm>
        </p:spPr>
        <p:txBody>
          <a:bodyPr/>
          <a:lstStyle/>
          <a:p>
            <a:r>
              <a:rPr lang="pt-BR" dirty="0"/>
              <a:t>Entender as vantagens de projetar um banco de dados usando boas práticas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40417" y="1640840"/>
            <a:ext cx="1210799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Vantagem de uma boa metodologia de design do Banco de Dados</a:t>
            </a:r>
          </a:p>
          <a:p>
            <a:r>
              <a:rPr lang="pt-BR" sz="2400" dirty="0"/>
              <a:t>		. Habilidades necessárias para projetar uma estrutura de banco de dados sólida (evita dados redundantes, dados inválidos e ausência de dados necessários);</a:t>
            </a:r>
          </a:p>
          <a:p>
            <a:r>
              <a:rPr lang="pt-BR" sz="2400" dirty="0"/>
              <a:t>		. Conjunto organizado de técnicas que o guiarão passo a passo pelo processo de design (tomada de decisões através dos aspectos do seu projeto);</a:t>
            </a:r>
          </a:p>
          <a:p>
            <a:endParaRPr lang="pt-BR" sz="2400" dirty="0"/>
          </a:p>
          <a:p>
            <a:r>
              <a:rPr lang="pt-BR" sz="2400" dirty="0"/>
              <a:t>		. Minimizar erros e reiterações de design;</a:t>
            </a:r>
          </a:p>
          <a:p>
            <a:endParaRPr lang="pt-BR" sz="2400" dirty="0"/>
          </a:p>
          <a:p>
            <a:r>
              <a:rPr lang="pt-BR" sz="2400" dirty="0"/>
              <a:t>		. Facilita o processo de design e reduz o tempo gasto projetando o Banco de Dados; </a:t>
            </a:r>
          </a:p>
          <a:p>
            <a:endParaRPr lang="pt-BR" sz="2400" dirty="0"/>
          </a:p>
          <a:p>
            <a:r>
              <a:rPr lang="pt-BR" sz="2400" dirty="0"/>
              <a:t>		. Ajudará a entender e usar o seu SGBD de forma mais completa e eficaz.</a:t>
            </a:r>
          </a:p>
        </p:txBody>
      </p:sp>
    </p:spTree>
    <p:extLst>
      <p:ext uri="{BB962C8B-B14F-4D97-AF65-F5344CB8AC3E}">
        <p14:creationId xmlns:p14="http://schemas.microsoft.com/office/powerpoint/2010/main" val="3897346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9948288" cy="1142640"/>
          </a:xfrm>
        </p:spPr>
        <p:txBody>
          <a:bodyPr/>
          <a:lstStyle/>
          <a:p>
            <a:r>
              <a:rPr lang="pt-BR" dirty="0"/>
              <a:t>Entender as vantagens de projetar um banco de dados usando boas práticas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40417" y="1640840"/>
            <a:ext cx="121079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Objetivos do bom design</a:t>
            </a:r>
          </a:p>
          <a:p>
            <a:r>
              <a:rPr lang="pt-BR" sz="2400" dirty="0"/>
              <a:t>		. O banco de dados com suporte para recuperar as informações necessárias;</a:t>
            </a:r>
          </a:p>
          <a:p>
            <a:endParaRPr lang="pt-BR" sz="2400" dirty="0"/>
          </a:p>
          <a:p>
            <a:r>
              <a:rPr lang="pt-BR" sz="2400" dirty="0"/>
              <a:t>		. Tabelas criadas da forma correta; </a:t>
            </a:r>
          </a:p>
          <a:p>
            <a:endParaRPr lang="pt-BR" sz="2400" dirty="0"/>
          </a:p>
          <a:p>
            <a:r>
              <a:rPr lang="pt-BR" sz="2400" dirty="0"/>
              <a:t>		. Integridade de dados nos níveis de campo, tabela e relacionamento; </a:t>
            </a:r>
          </a:p>
          <a:p>
            <a:endParaRPr lang="pt-BR" sz="2400" dirty="0"/>
          </a:p>
          <a:p>
            <a:r>
              <a:rPr lang="pt-BR" sz="2400" dirty="0"/>
              <a:t>		. Banco de Dados suporta regras de negócio; </a:t>
            </a:r>
          </a:p>
          <a:p>
            <a:endParaRPr lang="pt-BR" sz="2400" dirty="0"/>
          </a:p>
          <a:p>
            <a:r>
              <a:rPr lang="pt-BR" sz="2400" dirty="0"/>
              <a:t>		. Banco de Dados visando o crescimento futuro. </a:t>
            </a:r>
          </a:p>
        </p:txBody>
      </p:sp>
    </p:spTree>
    <p:extLst>
      <p:ext uri="{BB962C8B-B14F-4D97-AF65-F5344CB8AC3E}">
        <p14:creationId xmlns:p14="http://schemas.microsoft.com/office/powerpoint/2010/main" val="3779689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9948288" cy="1142640"/>
          </a:xfrm>
        </p:spPr>
        <p:txBody>
          <a:bodyPr/>
          <a:lstStyle/>
          <a:p>
            <a:r>
              <a:rPr lang="pt-BR" dirty="0"/>
              <a:t>Entender as vantagens de projetar um banco de dados usando boas práticas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122143" y="2057400"/>
            <a:ext cx="1210799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Benefícios do bom design</a:t>
            </a:r>
          </a:p>
          <a:p>
            <a:r>
              <a:rPr lang="pt-BR" sz="2400" dirty="0"/>
              <a:t>		. A estrutura do banco de dados é fácil de modificar e manter;</a:t>
            </a:r>
          </a:p>
          <a:p>
            <a:endParaRPr lang="pt-BR" sz="2400" dirty="0"/>
          </a:p>
          <a:p>
            <a:r>
              <a:rPr lang="pt-BR" sz="2400" dirty="0"/>
              <a:t>		. Os dados são fáceis de modificar; </a:t>
            </a:r>
          </a:p>
          <a:p>
            <a:endParaRPr lang="pt-BR" sz="2400" dirty="0"/>
          </a:p>
          <a:p>
            <a:r>
              <a:rPr lang="pt-BR" sz="2400" dirty="0"/>
              <a:t>		. As informações são fáceis de recuperar; </a:t>
            </a:r>
          </a:p>
          <a:p>
            <a:endParaRPr lang="pt-BR" sz="2400" dirty="0"/>
          </a:p>
          <a:p>
            <a:r>
              <a:rPr lang="pt-BR" sz="2400" dirty="0"/>
              <a:t>		. Os aplicativos de usuário final são fáceis de desenvolver e construir. </a:t>
            </a:r>
          </a:p>
          <a:p>
            <a:endParaRPr lang="pt-BR" sz="2400" dirty="0"/>
          </a:p>
          <a:p>
            <a:r>
              <a:rPr lang="pt-BR" sz="2400" dirty="0"/>
              <a:t>	Normalização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7552959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9948288" cy="1142640"/>
          </a:xfrm>
        </p:spPr>
        <p:txBody>
          <a:bodyPr/>
          <a:lstStyle/>
          <a:p>
            <a:r>
              <a:rPr lang="pt-BR" dirty="0"/>
              <a:t>Entender as vantagens de projetar um banco de dados usando boas práticas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-305023" y="1468120"/>
            <a:ext cx="12107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Métodos de Design de Banco de Dados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9E3F940-85D4-B8E7-6399-7E34C5443D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7753" y="1929785"/>
            <a:ext cx="9122727" cy="4192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3280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7957310" cy="1142640"/>
          </a:xfrm>
        </p:spPr>
        <p:txBody>
          <a:bodyPr/>
          <a:lstStyle/>
          <a:p>
            <a:r>
              <a:rPr lang="pt-BR" dirty="0"/>
              <a:t>Explicar a termologia usada em</a:t>
            </a:r>
            <a:br>
              <a:rPr lang="pt-BR" dirty="0"/>
            </a:br>
            <a:r>
              <a:rPr lang="pt-BR" dirty="0"/>
              <a:t>   projetos de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365537" y="2006600"/>
            <a:ext cx="112676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Por que esta terminologia é importante</a:t>
            </a:r>
          </a:p>
          <a:p>
            <a:r>
              <a:rPr lang="pt-BR" sz="2400" dirty="0"/>
              <a:t>		. Usada ​​para expressar e definir as ideias e conceitos do modelo de banco de dados relacional;</a:t>
            </a:r>
          </a:p>
          <a:p>
            <a:endParaRPr lang="pt-BR" sz="2400" dirty="0"/>
          </a:p>
          <a:p>
            <a:r>
              <a:rPr lang="pt-BR" sz="2400" dirty="0"/>
              <a:t>		. Usada ​​para expressar e definir o próprio processo de design do banco de dados; </a:t>
            </a:r>
          </a:p>
          <a:p>
            <a:endParaRPr lang="pt-BR" sz="2400" dirty="0"/>
          </a:p>
          <a:p>
            <a:r>
              <a:rPr lang="pt-BR" sz="2400" dirty="0"/>
              <a:t>		. Usada em qualquer local que menciona banco de dados relacional ou SGBDR </a:t>
            </a:r>
          </a:p>
        </p:txBody>
      </p:sp>
    </p:spTree>
    <p:extLst>
      <p:ext uri="{BB962C8B-B14F-4D97-AF65-F5344CB8AC3E}">
        <p14:creationId xmlns:p14="http://schemas.microsoft.com/office/powerpoint/2010/main" val="31994824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7957310" cy="1142640"/>
          </a:xfrm>
        </p:spPr>
        <p:txBody>
          <a:bodyPr/>
          <a:lstStyle/>
          <a:p>
            <a:r>
              <a:rPr lang="pt-BR" dirty="0"/>
              <a:t>Explicar a termologia usada em</a:t>
            </a:r>
            <a:br>
              <a:rPr lang="pt-BR" dirty="0"/>
            </a:br>
            <a:r>
              <a:rPr lang="pt-BR" dirty="0"/>
              <a:t>   projetos de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223297" y="1793240"/>
            <a:ext cx="1126766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Termos relacionados ao valor </a:t>
            </a:r>
          </a:p>
          <a:p>
            <a:r>
              <a:rPr lang="pt-BR" sz="2400" dirty="0"/>
              <a:t>		Dados (armazenados)</a:t>
            </a:r>
          </a:p>
          <a:p>
            <a:endParaRPr lang="pt-BR" sz="2400" dirty="0"/>
          </a:p>
          <a:p>
            <a:r>
              <a:rPr lang="pt-BR" sz="2400" dirty="0"/>
              <a:t>		Informações (recuperadas)</a:t>
            </a:r>
          </a:p>
          <a:p>
            <a:endParaRPr lang="pt-BR" sz="2400" dirty="0"/>
          </a:p>
          <a:p>
            <a:r>
              <a:rPr lang="pt-BR" sz="2400" dirty="0"/>
              <a:t>		</a:t>
            </a:r>
            <a:r>
              <a:rPr lang="pt-BR" sz="2400" dirty="0" err="1"/>
              <a:t>Null</a:t>
            </a:r>
            <a:endParaRPr lang="pt-BR" sz="2400" dirty="0"/>
          </a:p>
          <a:p>
            <a:r>
              <a:rPr lang="pt-BR" sz="2400" dirty="0"/>
              <a:t>			Valor ausente</a:t>
            </a:r>
          </a:p>
          <a:p>
            <a:r>
              <a:rPr lang="pt-BR" sz="2400" dirty="0"/>
              <a:t>			Valor desconhecido</a:t>
            </a:r>
          </a:p>
          <a:p>
            <a:r>
              <a:rPr lang="pt-BR" sz="2400" dirty="0"/>
              <a:t>			Problema</a:t>
            </a:r>
          </a:p>
          <a:p>
            <a:r>
              <a:rPr lang="pt-BR" sz="2400" dirty="0"/>
              <a:t>				Expressão matemática</a:t>
            </a:r>
          </a:p>
          <a:p>
            <a:r>
              <a:rPr lang="pt-BR" sz="2400" dirty="0"/>
              <a:t>				Agregação	</a:t>
            </a:r>
          </a:p>
        </p:txBody>
      </p:sp>
    </p:spTree>
    <p:extLst>
      <p:ext uri="{BB962C8B-B14F-4D97-AF65-F5344CB8AC3E}">
        <p14:creationId xmlns:p14="http://schemas.microsoft.com/office/powerpoint/2010/main" val="10966514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7957310" cy="1142640"/>
          </a:xfrm>
        </p:spPr>
        <p:txBody>
          <a:bodyPr/>
          <a:lstStyle/>
          <a:p>
            <a:r>
              <a:rPr lang="pt-BR" dirty="0"/>
              <a:t>Explicar a termologia usada em</a:t>
            </a:r>
            <a:br>
              <a:rPr lang="pt-BR" dirty="0"/>
            </a:br>
            <a:r>
              <a:rPr lang="pt-BR" dirty="0"/>
              <a:t>   projetos de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131857" y="1386840"/>
            <a:ext cx="85651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Termos relacionados à estrutura</a:t>
            </a:r>
          </a:p>
          <a:p>
            <a:r>
              <a:rPr lang="pt-BR" sz="2400" dirty="0"/>
              <a:t>		Tabela</a:t>
            </a:r>
          </a:p>
          <a:p>
            <a:r>
              <a:rPr lang="pt-BR" sz="2400" dirty="0"/>
              <a:t>		Registros </a:t>
            </a:r>
          </a:p>
          <a:p>
            <a:r>
              <a:rPr lang="pt-BR" sz="2400" dirty="0"/>
              <a:t>		Campos (Colunas)	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FD81FC-8F21-0610-C76D-7FB056F57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048" y="2880952"/>
            <a:ext cx="7106920" cy="3854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4873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7957310" cy="1142640"/>
          </a:xfrm>
        </p:spPr>
        <p:txBody>
          <a:bodyPr/>
          <a:lstStyle/>
          <a:p>
            <a:r>
              <a:rPr lang="pt-BR" dirty="0"/>
              <a:t>Explicar a termologia usada em</a:t>
            </a:r>
            <a:br>
              <a:rPr lang="pt-BR" dirty="0"/>
            </a:br>
            <a:r>
              <a:rPr lang="pt-BR" dirty="0"/>
              <a:t>   projetos de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131857" y="1386840"/>
            <a:ext cx="856510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Termos relacionados à estrutura</a:t>
            </a:r>
          </a:p>
          <a:p>
            <a:r>
              <a:rPr lang="pt-BR" sz="2400" dirty="0"/>
              <a:t>		Campo Calculado</a:t>
            </a:r>
          </a:p>
          <a:p>
            <a:r>
              <a:rPr lang="pt-BR" sz="2400" dirty="0"/>
              <a:t>		Campo Multiparte</a:t>
            </a:r>
          </a:p>
          <a:p>
            <a:r>
              <a:rPr lang="pt-BR" sz="2400" dirty="0"/>
              <a:t>		Campo Multivalorado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4CA3486-C990-FFEB-7D79-91FEB6DB6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062" y="2956500"/>
            <a:ext cx="8247698" cy="352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156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7957310" cy="1142640"/>
          </a:xfrm>
        </p:spPr>
        <p:txBody>
          <a:bodyPr/>
          <a:lstStyle/>
          <a:p>
            <a:r>
              <a:rPr lang="pt-BR" dirty="0"/>
              <a:t>Explicar a termologia usada em</a:t>
            </a:r>
            <a:br>
              <a:rPr lang="pt-BR" dirty="0"/>
            </a:br>
            <a:r>
              <a:rPr lang="pt-BR" dirty="0"/>
              <a:t>   projetos de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314737" y="2090172"/>
            <a:ext cx="1018054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Termos relacionados à estrutura</a:t>
            </a:r>
          </a:p>
          <a:p>
            <a:r>
              <a:rPr lang="pt-BR" sz="2400" dirty="0"/>
              <a:t>		Registro</a:t>
            </a:r>
          </a:p>
          <a:p>
            <a:endParaRPr lang="pt-BR" sz="2400" dirty="0"/>
          </a:p>
          <a:p>
            <a:r>
              <a:rPr lang="pt-BR" sz="2400" dirty="0"/>
              <a:t>		</a:t>
            </a:r>
            <a:r>
              <a:rPr lang="pt-BR" sz="2400" dirty="0" err="1"/>
              <a:t>View</a:t>
            </a:r>
            <a:r>
              <a:rPr lang="pt-BR" sz="2400" dirty="0"/>
              <a:t> (Visão) </a:t>
            </a:r>
          </a:p>
          <a:p>
            <a:r>
              <a:rPr lang="pt-BR" sz="2400" dirty="0"/>
              <a:t>			Acessar mais de uma tabela</a:t>
            </a:r>
          </a:p>
          <a:p>
            <a:r>
              <a:rPr lang="pt-BR" sz="2400" dirty="0"/>
              <a:t>			Enxergar determinados campos</a:t>
            </a:r>
          </a:p>
          <a:p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424135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9067496" cy="1142640"/>
          </a:xfrm>
        </p:spPr>
        <p:txBody>
          <a:bodyPr/>
          <a:lstStyle/>
          <a:p>
            <a:r>
              <a:rPr lang="pt-BR" dirty="0"/>
              <a:t>Explicar a terminologia usada em</a:t>
            </a:r>
            <a:br>
              <a:rPr lang="pt-BR" dirty="0"/>
            </a:br>
            <a:r>
              <a:rPr lang="pt-BR" dirty="0"/>
              <a:t>   projetos de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400193" y="1409452"/>
            <a:ext cx="733156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Chave </a:t>
            </a:r>
          </a:p>
          <a:p>
            <a:r>
              <a:rPr lang="pt-BR" sz="2400" dirty="0"/>
              <a:t>	Chave primária</a:t>
            </a:r>
          </a:p>
          <a:p>
            <a:r>
              <a:rPr lang="pt-BR" sz="2400" dirty="0"/>
              <a:t>	Chave estrangeira</a:t>
            </a:r>
          </a:p>
          <a:p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Índice</a:t>
            </a:r>
          </a:p>
          <a:p>
            <a:endParaRPr lang="pt-BR" sz="24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CB119CE-E131-B898-AFBA-304F2DC2E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9506" y="1835776"/>
            <a:ext cx="6839125" cy="451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44285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7957310" cy="1142640"/>
          </a:xfrm>
        </p:spPr>
        <p:txBody>
          <a:bodyPr/>
          <a:lstStyle/>
          <a:p>
            <a:r>
              <a:rPr lang="pt-BR" dirty="0"/>
              <a:t>Explicar a termologia usada em</a:t>
            </a:r>
            <a:br>
              <a:rPr lang="pt-BR" dirty="0"/>
            </a:br>
            <a:r>
              <a:rPr lang="pt-BR" dirty="0"/>
              <a:t>   projetos de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359553" y="1404302"/>
            <a:ext cx="733156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100" dirty="0"/>
              <a:t>Termos Relacionados ao Relacionamento		Relacionamento</a:t>
            </a:r>
          </a:p>
          <a:p>
            <a:r>
              <a:rPr lang="pt-BR" sz="2100" dirty="0"/>
              <a:t>	Tipos de Relacionamento</a:t>
            </a:r>
          </a:p>
          <a:p>
            <a:r>
              <a:rPr lang="pt-BR" sz="2100" dirty="0"/>
              <a:t>		Um-para-um</a:t>
            </a:r>
          </a:p>
          <a:p>
            <a:r>
              <a:rPr lang="pt-BR" sz="2100" dirty="0"/>
              <a:t>		Um-para-muitos</a:t>
            </a:r>
          </a:p>
          <a:p>
            <a:r>
              <a:rPr lang="pt-BR" sz="2100" dirty="0"/>
              <a:t>		Muitos-para-muitos</a:t>
            </a:r>
          </a:p>
          <a:p>
            <a:endParaRPr lang="pt-BR" sz="24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2B47601-89E5-637E-2C3F-C1B44FBBCF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00" y="3507105"/>
            <a:ext cx="5215357" cy="100393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D2A7FCC-F831-34C5-2624-D585C5314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842" y="4641257"/>
            <a:ext cx="5372100" cy="113347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202E7A0F-D7A5-24FD-889A-22BBE0416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5505" y="5831777"/>
            <a:ext cx="633412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660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8E55BF-4CCB-A9D8-1356-3DDA4E30A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6850" y="122280"/>
            <a:ext cx="7957310" cy="1142640"/>
          </a:xfrm>
        </p:spPr>
        <p:txBody>
          <a:bodyPr/>
          <a:lstStyle/>
          <a:p>
            <a:r>
              <a:rPr lang="pt-BR" dirty="0"/>
              <a:t>Explicar a termologia usada em</a:t>
            </a:r>
            <a:br>
              <a:rPr lang="pt-BR" dirty="0"/>
            </a:br>
            <a:r>
              <a:rPr lang="pt-BR" dirty="0"/>
              <a:t>   projetos de banco de dados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C0D345-3F88-BDAA-5AB4-14E20F474D5A}"/>
              </a:ext>
            </a:extLst>
          </p:cNvPr>
          <p:cNvSpPr txBox="1"/>
          <p:nvPr/>
        </p:nvSpPr>
        <p:spPr>
          <a:xfrm>
            <a:off x="542432" y="1958516"/>
            <a:ext cx="109078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	Termos Relacionados à integridade</a:t>
            </a:r>
          </a:p>
          <a:p>
            <a:r>
              <a:rPr lang="pt-BR" sz="2400" dirty="0"/>
              <a:t>		Especificação do campo (domínio)</a:t>
            </a:r>
          </a:p>
          <a:p>
            <a:endParaRPr lang="pt-BR" sz="2400" dirty="0"/>
          </a:p>
          <a:p>
            <a:r>
              <a:rPr lang="pt-BR" sz="2400" dirty="0"/>
              <a:t>		Integridade do dado (tabela, campo, relacionamento, negócio)	</a:t>
            </a:r>
          </a:p>
        </p:txBody>
      </p:sp>
    </p:spTree>
    <p:extLst>
      <p:ext uri="{BB962C8B-B14F-4D97-AF65-F5344CB8AC3E}">
        <p14:creationId xmlns:p14="http://schemas.microsoft.com/office/powerpoint/2010/main" val="194138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3886</TotalTime>
  <Words>1203</Words>
  <Application>Microsoft Office PowerPoint</Application>
  <PresentationFormat>Personalizar</PresentationFormat>
  <Paragraphs>185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30" baseType="lpstr">
      <vt:lpstr>Arial</vt:lpstr>
      <vt:lpstr>Calibri</vt:lpstr>
      <vt:lpstr>Symbol</vt:lpstr>
      <vt:lpstr>Times New Roman</vt:lpstr>
      <vt:lpstr>Wingdings</vt:lpstr>
      <vt:lpstr>Office Theme</vt:lpstr>
      <vt:lpstr>Apresentação do PowerPoint</vt:lpstr>
      <vt:lpstr>Entender a evolução histórica dos        bancos de dados relacionais</vt:lpstr>
      <vt:lpstr>Entender a evolução histórica dos        bancos de dados relacionais</vt:lpstr>
      <vt:lpstr>Entender a evolução histórica dos        bancos de dados relacionais</vt:lpstr>
      <vt:lpstr>Entender a evolução histórica dos        bancos de dados relacionais</vt:lpstr>
      <vt:lpstr>Entender a evolução histórica dos        bancos de dados relacionais</vt:lpstr>
      <vt:lpstr>Entender a evolução histórica dos        bancos de dados relacionais</vt:lpstr>
      <vt:lpstr>Entender a evolução histórica dos        bancos de dados relacionais</vt:lpstr>
      <vt:lpstr>Entender a evolução histórica dos        bancos de dados relacionais</vt:lpstr>
      <vt:lpstr>Entender a evolução histórica dos        bancos de dados relacionais</vt:lpstr>
      <vt:lpstr>Entender as vantagens de projetar um banco de dados usando boas práticas</vt:lpstr>
      <vt:lpstr>Entender as vantagens de projetar um banco de dados usando boas práticas</vt:lpstr>
      <vt:lpstr>Entender as vantagens de projetar um banco de dados usando boas práticas</vt:lpstr>
      <vt:lpstr>Entender as vantagens de projetar um banco de dados usando boas práticas</vt:lpstr>
      <vt:lpstr>Entender as vantagens de projetar um banco de dados usando boas práticas</vt:lpstr>
      <vt:lpstr>Entender as vantagens de projetar um banco de dados usando boas práticas</vt:lpstr>
      <vt:lpstr>Explicar a termologia usada em    projetos de banco de dados</vt:lpstr>
      <vt:lpstr>Explicar a termologia usada em    projetos de banco de dados</vt:lpstr>
      <vt:lpstr>Explicar a termologia usada em    projetos de banco de dados</vt:lpstr>
      <vt:lpstr>Explicar a termologia usada em    projetos de banco de dados</vt:lpstr>
      <vt:lpstr>Explicar a termologia usada em    projetos de banco de dados</vt:lpstr>
      <vt:lpstr>Explicar a terminologia usada em    projetos de banco de dados</vt:lpstr>
      <vt:lpstr>Explicar a termologia usada em    projetos de banco de dados</vt:lpstr>
      <vt:lpstr>Explicar a termologia usada em    projetos de banco de dados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Administração de Banco de Dados Oracle: Introdução</dc:title>
  <dc:subject/>
  <dc:creator>Junior®</dc:creator>
  <dc:description/>
  <cp:lastModifiedBy>Carlos Eduardo Gertners De Magalhaes</cp:lastModifiedBy>
  <cp:revision>347</cp:revision>
  <dcterms:created xsi:type="dcterms:W3CDTF">2017-04-22T16:06:56Z</dcterms:created>
  <dcterms:modified xsi:type="dcterms:W3CDTF">2023-04-21T00:59:35Z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Personalizar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19</vt:i4>
  </property>
</Properties>
</file>