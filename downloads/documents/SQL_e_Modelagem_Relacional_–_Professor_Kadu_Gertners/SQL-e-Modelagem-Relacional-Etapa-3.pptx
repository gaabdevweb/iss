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4786" autoAdjust="0"/>
    <p:restoredTop sz="94660"/>
  </p:normalViewPr>
  <p:slideViewPr>
    <p:cSldViewPr snapToGrid="0">
      <p:cViewPr varScale="1">
        <p:scale>
          <a:sx n="93" d="100"/>
          <a:sy n="93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86F36-BAEE-4ED7-9B09-A5567D57D196}" type="datetimeFigureOut">
              <a:rPr lang="pt-BR" smtClean="0"/>
              <a:t>25/10/2022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336675"/>
            <a:ext cx="64103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A5872-4E0D-479B-A132-6CD4B6DFE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850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A5872-4E0D-479B-A132-6CD4B6DFE5C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7066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4680"/>
            <a:ext cx="1096956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Clique para editar o título mestre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609480" y="6356520"/>
            <a:ext cx="284364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8A948C2A-F109-4E83-A9F2-E19E77B6B463}" type="datetime">
              <a:rPr lang="pt-BR" sz="1200" b="0" strike="noStrike" spc="-1">
                <a:solidFill>
                  <a:srgbClr val="8B8B8B"/>
                </a:solidFill>
                <a:latin typeface="Calibri"/>
              </a:rPr>
              <a:t>25/10/2022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164480" y="6356520"/>
            <a:ext cx="3859560" cy="364680"/>
          </a:xfrm>
          <a:prstGeom prst="rect">
            <a:avLst/>
          </a:prstGeom>
        </p:spPr>
        <p:txBody>
          <a:bodyPr anchor="ctr"/>
          <a:lstStyle/>
          <a:p>
            <a:endParaRPr lang="pt-BR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735400" y="6356520"/>
            <a:ext cx="284364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B051EBB1-01F8-4ED5-87FB-6B0984AB0840}" type="slidenum">
              <a:rPr lang="pt-BR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rgbClr val="000000"/>
                </a:solidFill>
                <a:latin typeface="Calibri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609480" y="274680"/>
            <a:ext cx="1096956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47500" lnSpcReduction="20000"/>
          </a:bodyPr>
          <a:lstStyle/>
          <a:p>
            <a:pPr algn="ctr">
              <a:lnSpc>
                <a:spcPct val="100000"/>
              </a:lnSpc>
            </a:pPr>
            <a:br/>
            <a:br/>
            <a:br/>
            <a:br/>
            <a:br/>
            <a:br/>
            <a:br/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Administração de Banco de Dados Oracle: Introdução</a:t>
            </a:r>
          </a:p>
        </p:txBody>
      </p:sp>
      <p:sp>
        <p:nvSpPr>
          <p:cNvPr id="42" name="CustomShape 2"/>
          <p:cNvSpPr/>
          <p:nvPr/>
        </p:nvSpPr>
        <p:spPr>
          <a:xfrm>
            <a:off x="8974800" y="3429000"/>
            <a:ext cx="2808000" cy="1461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91FEC82-C416-4595-C065-5D8B0CB54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25" y="371475"/>
            <a:ext cx="11001375" cy="6115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67" y="186536"/>
            <a:ext cx="12020929" cy="1142640"/>
          </a:xfrm>
        </p:spPr>
        <p:txBody>
          <a:bodyPr/>
          <a:lstStyle/>
          <a:p>
            <a:r>
              <a:rPr lang="pt-BR" sz="3600" dirty="0"/>
              <a:t>Definir os tipos de chaves presentes em uma modelagem</a:t>
            </a:r>
            <a:br>
              <a:rPr lang="pt-BR" sz="3600" dirty="0"/>
            </a:br>
            <a:r>
              <a:rPr lang="pt-BR" sz="3600" dirty="0"/>
              <a:t>        relacional e definir o significado de normalização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253880" y="1768624"/>
            <a:ext cx="117958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. Chaves (Keys)</a:t>
            </a:r>
          </a:p>
          <a:p>
            <a:r>
              <a:rPr lang="pt-BR" sz="2400" dirty="0"/>
              <a:t>		Por que as chaves são importantes</a:t>
            </a:r>
          </a:p>
          <a:p>
            <a:r>
              <a:rPr lang="pt-BR" sz="2400" dirty="0"/>
              <a:t>			Elas garantem que cada registro em uma tabela seja identificado com precisão;</a:t>
            </a:r>
          </a:p>
          <a:p>
            <a:endParaRPr lang="pt-BR" sz="2400" dirty="0"/>
          </a:p>
          <a:p>
            <a:r>
              <a:rPr lang="pt-BR" sz="2400" dirty="0"/>
              <a:t>			Elas ajudam a estabelecer e reforçar vários tipos de integridade (chave primária e chave estrangeira);</a:t>
            </a:r>
          </a:p>
          <a:p>
            <a:r>
              <a:rPr lang="pt-BR" sz="2400" dirty="0"/>
              <a:t> </a:t>
            </a:r>
          </a:p>
          <a:p>
            <a:r>
              <a:rPr lang="pt-BR" sz="2400" dirty="0"/>
              <a:t>			Servem para estabelecer relações entre tabelas.</a:t>
            </a:r>
          </a:p>
          <a:p>
            <a:r>
              <a:rPr lang="pt-BR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01473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67" y="186536"/>
            <a:ext cx="12020929" cy="1142640"/>
          </a:xfrm>
        </p:spPr>
        <p:txBody>
          <a:bodyPr/>
          <a:lstStyle/>
          <a:p>
            <a:r>
              <a:rPr lang="pt-BR" sz="3600" dirty="0"/>
              <a:t>Definir os tipos de chaves presentes em uma modelagem</a:t>
            </a:r>
            <a:br>
              <a:rPr lang="pt-BR" sz="3600" dirty="0"/>
            </a:br>
            <a:r>
              <a:rPr lang="pt-BR" sz="3600" dirty="0"/>
              <a:t>        relacional e definir o significado de normalização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105167" y="1628581"/>
            <a:ext cx="117958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	Chaves Candidatas</a:t>
            </a:r>
          </a:p>
          <a:p>
            <a:r>
              <a:rPr lang="pt-BR" sz="2400" dirty="0"/>
              <a:t>			Elementos de uma chave candidata</a:t>
            </a:r>
          </a:p>
          <a:p>
            <a:r>
              <a:rPr lang="pt-BR" sz="2400" dirty="0"/>
              <a:t>				. Não pode ser um campo com várias partes;</a:t>
            </a:r>
          </a:p>
          <a:p>
            <a:r>
              <a:rPr lang="pt-BR" sz="2400" dirty="0"/>
              <a:t>				. Deve conter valores exclusivos; </a:t>
            </a:r>
          </a:p>
          <a:p>
            <a:r>
              <a:rPr lang="pt-BR" sz="2400" dirty="0"/>
              <a:t>				. Não pode conter valores nulos; </a:t>
            </a:r>
          </a:p>
          <a:p>
            <a:r>
              <a:rPr lang="pt-BR" sz="2400" dirty="0"/>
              <a:t>				. Seu valor não pode causar uma violação das regras de</a:t>
            </a:r>
          </a:p>
          <a:p>
            <a:r>
              <a:rPr lang="pt-BR" sz="2400" dirty="0"/>
              <a:t> 				  segurança ou privacidade da organização; </a:t>
            </a:r>
          </a:p>
          <a:p>
            <a:r>
              <a:rPr lang="pt-BR" sz="2400" dirty="0"/>
              <a:t>				. Seu valor não é opcional no todo ou em parte;</a:t>
            </a:r>
          </a:p>
          <a:p>
            <a:r>
              <a:rPr lang="pt-BR" sz="2400" dirty="0"/>
              <a:t>				. Compreende um número mínimo de campos necessários</a:t>
            </a:r>
          </a:p>
          <a:p>
            <a:r>
              <a:rPr lang="pt-BR" sz="2400" dirty="0"/>
              <a:t>				  para definir a unicidade;</a:t>
            </a:r>
          </a:p>
          <a:p>
            <a:r>
              <a:rPr lang="pt-BR" sz="2400" dirty="0"/>
              <a:t>				. Seu valor pode ser modificado apenas em casos raros</a:t>
            </a:r>
          </a:p>
          <a:p>
            <a:r>
              <a:rPr lang="pt-BR" sz="2400" dirty="0"/>
              <a:t> 				  ou extremos.</a:t>
            </a:r>
          </a:p>
        </p:txBody>
      </p:sp>
    </p:spTree>
    <p:extLst>
      <p:ext uri="{BB962C8B-B14F-4D97-AF65-F5344CB8AC3E}">
        <p14:creationId xmlns:p14="http://schemas.microsoft.com/office/powerpoint/2010/main" val="2983297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67" y="186536"/>
            <a:ext cx="12020929" cy="1142640"/>
          </a:xfrm>
        </p:spPr>
        <p:txBody>
          <a:bodyPr/>
          <a:lstStyle/>
          <a:p>
            <a:r>
              <a:rPr lang="pt-BR" sz="3600" dirty="0"/>
              <a:t>Definir os tipos de chaves presentes em uma modelagem</a:t>
            </a:r>
            <a:br>
              <a:rPr lang="pt-BR" sz="3600" dirty="0"/>
            </a:br>
            <a:r>
              <a:rPr lang="pt-BR" sz="3600" dirty="0"/>
              <a:t>        relacional e definir o significado de normalização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105167" y="1628581"/>
            <a:ext cx="1179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	Chaves Candidatas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9367934-B5F2-C7B6-9479-BC2C493A0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74" y="2224087"/>
            <a:ext cx="7731200" cy="274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61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67" y="186536"/>
            <a:ext cx="12020929" cy="1142640"/>
          </a:xfrm>
        </p:spPr>
        <p:txBody>
          <a:bodyPr/>
          <a:lstStyle/>
          <a:p>
            <a:r>
              <a:rPr lang="pt-BR" sz="3600" dirty="0"/>
              <a:t>Definir os tipos de chaves presentes em uma modelagem</a:t>
            </a:r>
            <a:br>
              <a:rPr lang="pt-BR" sz="3600" dirty="0"/>
            </a:br>
            <a:r>
              <a:rPr lang="pt-BR" sz="3600" dirty="0"/>
              <a:t>        relacional e definir o significado de normalização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-331439" y="1329176"/>
            <a:ext cx="122598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	Chave Artificial (</a:t>
            </a:r>
            <a:r>
              <a:rPr lang="pt-BR" sz="2400" dirty="0" err="1"/>
              <a:t>surrogate</a:t>
            </a:r>
            <a:r>
              <a:rPr lang="pt-BR" sz="2400" dirty="0"/>
              <a:t>, substituta)</a:t>
            </a:r>
          </a:p>
          <a:p>
            <a:r>
              <a:rPr lang="pt-BR" sz="2400" dirty="0"/>
              <a:t>			. Valor numérico, único, servir como chave primária; </a:t>
            </a:r>
          </a:p>
          <a:p>
            <a:r>
              <a:rPr lang="pt-BR" sz="2400" dirty="0"/>
              <a:t>			. Não possui significado para os usuários ou para o negócio; </a:t>
            </a:r>
          </a:p>
          <a:p>
            <a:r>
              <a:rPr lang="pt-BR" sz="2400" dirty="0"/>
              <a:t>			. Normalmente usada no lugar de uma chave primária composta. 		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44D429F-0C59-F228-08C3-BED5F9BFC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108" y="2966239"/>
            <a:ext cx="340042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079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67" y="186536"/>
            <a:ext cx="12020929" cy="1142640"/>
          </a:xfrm>
        </p:spPr>
        <p:txBody>
          <a:bodyPr/>
          <a:lstStyle/>
          <a:p>
            <a:r>
              <a:rPr lang="pt-BR" sz="3600" dirty="0"/>
              <a:t>Definir os tipos de chaves presentes em uma modelagem</a:t>
            </a:r>
            <a:br>
              <a:rPr lang="pt-BR" sz="3600" dirty="0"/>
            </a:br>
            <a:r>
              <a:rPr lang="pt-BR" sz="3600" dirty="0"/>
              <a:t>        relacional e definir o significado de normalização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-815092" y="1807348"/>
            <a:ext cx="1251773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	Chave Primária </a:t>
            </a:r>
          </a:p>
          <a:p>
            <a:r>
              <a:rPr lang="pt-BR" sz="2400" dirty="0"/>
              <a:t>			Sugestões para escolher uma chave primária apropriada:</a:t>
            </a:r>
          </a:p>
          <a:p>
            <a:r>
              <a:rPr lang="pt-BR" sz="2400" dirty="0"/>
              <a:t>				1. Se você tiver uma chave candidata simples (campo único)</a:t>
            </a:r>
          </a:p>
          <a:p>
            <a:r>
              <a:rPr lang="pt-BR" sz="2400" dirty="0"/>
              <a:t>				    e uma chave candidata composta;</a:t>
            </a:r>
          </a:p>
          <a:p>
            <a:r>
              <a:rPr lang="pt-BR" sz="2400" dirty="0"/>
              <a:t>				2. Escolha uma chave candidata que incorpore parte do nome</a:t>
            </a:r>
          </a:p>
          <a:p>
            <a:r>
              <a:rPr lang="pt-BR" sz="2400" dirty="0"/>
              <a:t>				    da tabela em seu próprio nome.</a:t>
            </a:r>
          </a:p>
          <a:p>
            <a:endParaRPr lang="pt-BR" sz="2400" dirty="0"/>
          </a:p>
          <a:p>
            <a:r>
              <a:rPr lang="pt-BR" sz="2400" dirty="0"/>
              <a:t>			Regras para estabelecer uma chave primária</a:t>
            </a:r>
          </a:p>
          <a:p>
            <a:r>
              <a:rPr lang="pt-BR" sz="2400" dirty="0"/>
              <a:t>				1. Cada tabela deve ter uma chave primária;</a:t>
            </a:r>
          </a:p>
          <a:p>
            <a:r>
              <a:rPr lang="pt-BR" sz="2400" dirty="0"/>
              <a:t>				2. Cada chave primária deve ser exclusiva.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142755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67" y="186536"/>
            <a:ext cx="12020929" cy="1142640"/>
          </a:xfrm>
        </p:spPr>
        <p:txBody>
          <a:bodyPr/>
          <a:lstStyle/>
          <a:p>
            <a:r>
              <a:rPr lang="pt-BR" sz="3600" dirty="0"/>
              <a:t>Definir os tipos de chaves presentes em uma modelagem</a:t>
            </a:r>
            <a:br>
              <a:rPr lang="pt-BR" sz="3600" dirty="0"/>
            </a:br>
            <a:r>
              <a:rPr lang="pt-BR" sz="3600" dirty="0"/>
              <a:t>        relacional e definir o significado de normalização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-815092" y="1807348"/>
            <a:ext cx="125177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	Chaves Alternativas (em relação as Chaves Candidatas)</a:t>
            </a:r>
          </a:p>
          <a:p>
            <a:r>
              <a:rPr lang="pt-BR" sz="2400" dirty="0"/>
              <a:t>		</a:t>
            </a:r>
          </a:p>
          <a:p>
            <a:r>
              <a:rPr lang="pt-BR" sz="2400" dirty="0"/>
              <a:t>		Não chave</a:t>
            </a:r>
          </a:p>
          <a:p>
            <a:r>
              <a:rPr lang="pt-BR" sz="2400" dirty="0"/>
              <a:t>		</a:t>
            </a:r>
          </a:p>
          <a:p>
            <a:r>
              <a:rPr lang="pt-BR" sz="2400" dirty="0"/>
              <a:t>		Integridade no nível da tabela</a:t>
            </a:r>
          </a:p>
          <a:p>
            <a:r>
              <a:rPr lang="pt-BR" sz="2400" dirty="0"/>
              <a:t>			. Não há registros duplicados em uma tabela;</a:t>
            </a:r>
          </a:p>
          <a:p>
            <a:r>
              <a:rPr lang="pt-BR" sz="2400" dirty="0"/>
              <a:t>			. A chave primária identifica exclusivamente cada registro em uma</a:t>
            </a:r>
          </a:p>
          <a:p>
            <a:r>
              <a:rPr lang="pt-BR" sz="2400" dirty="0"/>
              <a:t>			 tabela;</a:t>
            </a:r>
          </a:p>
          <a:p>
            <a:r>
              <a:rPr lang="pt-BR" sz="2400" dirty="0"/>
              <a:t>			. Cada valor de chave primária é único;</a:t>
            </a:r>
          </a:p>
          <a:p>
            <a:r>
              <a:rPr lang="pt-BR" sz="2400" dirty="0"/>
              <a:t>			. Os valores da chave primária não são nulos.</a:t>
            </a:r>
          </a:p>
        </p:txBody>
      </p:sp>
    </p:spTree>
    <p:extLst>
      <p:ext uri="{BB962C8B-B14F-4D97-AF65-F5344CB8AC3E}">
        <p14:creationId xmlns:p14="http://schemas.microsoft.com/office/powerpoint/2010/main" val="3648925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67" y="186536"/>
            <a:ext cx="12020929" cy="1142640"/>
          </a:xfrm>
        </p:spPr>
        <p:txBody>
          <a:bodyPr/>
          <a:lstStyle/>
          <a:p>
            <a:r>
              <a:rPr lang="pt-BR" sz="3600" dirty="0"/>
              <a:t>Definir os tipos de chaves presentes em uma modelagem</a:t>
            </a:r>
            <a:br>
              <a:rPr lang="pt-BR" sz="3600" dirty="0"/>
            </a:br>
            <a:r>
              <a:rPr lang="pt-BR" sz="3600" dirty="0"/>
              <a:t>        relacional e definir o significado de normalização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-543243" y="1905506"/>
            <a:ext cx="125177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Revisando as estruturas iniciais da tabela</a:t>
            </a:r>
          </a:p>
          <a:p>
            <a:r>
              <a:rPr lang="pt-BR" sz="2400" dirty="0"/>
              <a:t>		. Certifique-se de que os assuntos apropriados estejam representados no</a:t>
            </a:r>
          </a:p>
          <a:p>
            <a:r>
              <a:rPr lang="pt-BR" sz="2400" dirty="0"/>
              <a:t>		  banco de dados;</a:t>
            </a:r>
          </a:p>
          <a:p>
            <a:r>
              <a:rPr lang="pt-BR" sz="2400" dirty="0"/>
              <a:t>		. Certifique-se de que os nomes e descrições das tabelas sejam adequados</a:t>
            </a:r>
          </a:p>
          <a:p>
            <a:r>
              <a:rPr lang="pt-BR" sz="2400" dirty="0"/>
              <a:t>		  e significativos para todos;</a:t>
            </a:r>
          </a:p>
          <a:p>
            <a:r>
              <a:rPr lang="pt-BR" sz="2400" dirty="0"/>
              <a:t>		. Certifique-se de que os nomes dos campos sejam adequados e</a:t>
            </a:r>
          </a:p>
          <a:p>
            <a:r>
              <a:rPr lang="pt-BR" sz="2400" dirty="0"/>
              <a:t>		  significativos para todos;</a:t>
            </a:r>
          </a:p>
          <a:p>
            <a:r>
              <a:rPr lang="pt-BR" sz="2400" dirty="0"/>
              <a:t>		. Verifique se todos os campos apropriados estão atribuídos a cada tabela. </a:t>
            </a:r>
          </a:p>
        </p:txBody>
      </p:sp>
    </p:spTree>
    <p:extLst>
      <p:ext uri="{BB962C8B-B14F-4D97-AF65-F5344CB8AC3E}">
        <p14:creationId xmlns:p14="http://schemas.microsoft.com/office/powerpoint/2010/main" val="440708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67" y="186536"/>
            <a:ext cx="12020929" cy="1142640"/>
          </a:xfrm>
        </p:spPr>
        <p:txBody>
          <a:bodyPr/>
          <a:lstStyle/>
          <a:p>
            <a:r>
              <a:rPr lang="pt-BR" sz="3600" dirty="0"/>
              <a:t>Definir os tipos de chaves presentes em uma modelagem</a:t>
            </a:r>
            <a:br>
              <a:rPr lang="pt-BR" sz="3600" dirty="0"/>
            </a:br>
            <a:r>
              <a:rPr lang="pt-BR" sz="3600" dirty="0"/>
              <a:t>        relacional e definir o significado de normalização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-543243" y="1905506"/>
            <a:ext cx="125177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Relações da tabela</a:t>
            </a:r>
          </a:p>
          <a:p>
            <a:r>
              <a:rPr lang="pt-BR" sz="2400" dirty="0"/>
              <a:t>		Por que os relacionamentos são importantes</a:t>
            </a:r>
          </a:p>
          <a:p>
            <a:r>
              <a:rPr lang="pt-BR" sz="2400" dirty="0"/>
              <a:t>			. Estabelece uma conexão entre um par de tabelas logicamente</a:t>
            </a:r>
          </a:p>
          <a:p>
            <a:r>
              <a:rPr lang="pt-BR" sz="2400" dirty="0"/>
              <a:t>			  relacionadas entre si;</a:t>
            </a:r>
          </a:p>
          <a:p>
            <a:r>
              <a:rPr lang="pt-BR" sz="2400" dirty="0"/>
              <a:t>			. Ajuda a refinar ainda mais as estruturas de tabela e minimizar dados</a:t>
            </a:r>
          </a:p>
          <a:p>
            <a:r>
              <a:rPr lang="pt-BR" sz="2400" dirty="0"/>
              <a:t>			  redundantes;</a:t>
            </a:r>
          </a:p>
          <a:p>
            <a:r>
              <a:rPr lang="pt-BR" sz="2400" dirty="0"/>
              <a:t>			. É o mecanismo que permite extrair dados de várias tabelas</a:t>
            </a:r>
          </a:p>
          <a:p>
            <a:r>
              <a:rPr lang="pt-BR" sz="2400" dirty="0"/>
              <a:t>			  simultaneamente. </a:t>
            </a:r>
          </a:p>
        </p:txBody>
      </p:sp>
    </p:spTree>
    <p:extLst>
      <p:ext uri="{BB962C8B-B14F-4D97-AF65-F5344CB8AC3E}">
        <p14:creationId xmlns:p14="http://schemas.microsoft.com/office/powerpoint/2010/main" val="1042338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67" y="186536"/>
            <a:ext cx="12020929" cy="1142640"/>
          </a:xfrm>
        </p:spPr>
        <p:txBody>
          <a:bodyPr/>
          <a:lstStyle/>
          <a:p>
            <a:r>
              <a:rPr lang="pt-BR" sz="3600" dirty="0"/>
              <a:t>Definir os tipos de chaves presentes em uma modelagem</a:t>
            </a:r>
            <a:br>
              <a:rPr lang="pt-BR" sz="3600" dirty="0"/>
            </a:br>
            <a:r>
              <a:rPr lang="pt-BR" sz="3600" dirty="0"/>
              <a:t>        relacional e definir o significado de normalização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-1073034" y="1658689"/>
            <a:ext cx="83546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	Tipos de relacionamentos</a:t>
            </a:r>
          </a:p>
          <a:p>
            <a:endParaRPr lang="pt-BR" sz="2400" dirty="0"/>
          </a:p>
          <a:p>
            <a:r>
              <a:rPr lang="pt-BR" sz="2400" dirty="0"/>
              <a:t>			Relacionamentos um-para-um</a:t>
            </a:r>
          </a:p>
          <a:p>
            <a:endParaRPr lang="pt-BR" sz="2400" dirty="0"/>
          </a:p>
          <a:p>
            <a:r>
              <a:rPr lang="pt-BR" sz="2400" dirty="0"/>
              <a:t>			</a:t>
            </a:r>
          </a:p>
          <a:p>
            <a:r>
              <a:rPr lang="pt-BR" sz="2400" dirty="0"/>
              <a:t>			Relacionamentos um-para-muitos</a:t>
            </a:r>
          </a:p>
          <a:p>
            <a:endParaRPr lang="pt-BR" sz="2400" dirty="0"/>
          </a:p>
          <a:p>
            <a:r>
              <a:rPr lang="pt-BR" sz="2400" dirty="0"/>
              <a:t>			</a:t>
            </a:r>
          </a:p>
          <a:p>
            <a:r>
              <a:rPr lang="pt-BR" sz="2400" dirty="0"/>
              <a:t>			Relacionamentos muitos-para-muitos</a:t>
            </a:r>
          </a:p>
          <a:p>
            <a:endParaRPr lang="pt-BR" sz="2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16B591A-649C-0798-7E79-C30AE66A2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2233079"/>
            <a:ext cx="4572000" cy="74062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C79B70B-87E9-950F-48E3-7A066477A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253" y="3323157"/>
            <a:ext cx="4682426" cy="75688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DB27B0-B11B-56EB-188A-438D7CA116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580" y="4409555"/>
            <a:ext cx="5094622" cy="85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24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67" y="186536"/>
            <a:ext cx="12020929" cy="1142640"/>
          </a:xfrm>
        </p:spPr>
        <p:txBody>
          <a:bodyPr/>
          <a:lstStyle/>
          <a:p>
            <a:r>
              <a:rPr lang="pt-BR" sz="3600" dirty="0"/>
              <a:t>Definir os tipos de chaves presentes em uma modelagem</a:t>
            </a:r>
            <a:br>
              <a:rPr lang="pt-BR" sz="3600" dirty="0"/>
            </a:br>
            <a:r>
              <a:rPr lang="pt-BR" sz="3600" dirty="0"/>
              <a:t>        relacional e definir o significado de normalização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-848043" y="1501852"/>
            <a:ext cx="1251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	Relacionamentos de </a:t>
            </a:r>
            <a:r>
              <a:rPr lang="pt-BR" sz="2400" dirty="0" err="1"/>
              <a:t>autoreferência</a:t>
            </a:r>
            <a:endParaRPr lang="pt-BR" sz="2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F431DF8-5709-1EF6-610F-57C0D3F19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125" y="2264459"/>
            <a:ext cx="5542775" cy="296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353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67" y="186536"/>
            <a:ext cx="12020929" cy="1142640"/>
          </a:xfrm>
        </p:spPr>
        <p:txBody>
          <a:bodyPr/>
          <a:lstStyle/>
          <a:p>
            <a:r>
              <a:rPr lang="pt-BR" sz="3600" dirty="0"/>
              <a:t>Definir os tipos de chaves presentes em uma modelagem</a:t>
            </a:r>
            <a:br>
              <a:rPr lang="pt-BR" sz="3600" dirty="0"/>
            </a:br>
            <a:r>
              <a:rPr lang="pt-BR" sz="3600" dirty="0"/>
              <a:t>        relacional e definir o significado de normalização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-518530" y="1510090"/>
            <a:ext cx="125177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	Tabela de vinculação --&gt; Em Relacionamentos muitos-para-muitos</a:t>
            </a:r>
          </a:p>
          <a:p>
            <a:r>
              <a:rPr lang="pt-BR" sz="2400" dirty="0"/>
              <a:t>			A tabela de vinculação herdará as chaves primárias das tabelas do</a:t>
            </a:r>
          </a:p>
          <a:p>
            <a:r>
              <a:rPr lang="pt-BR" sz="2400" dirty="0"/>
              <a:t>			relacionamento muitos-para-muitos</a:t>
            </a:r>
          </a:p>
          <a:p>
            <a:r>
              <a:rPr lang="pt-BR" sz="2400" dirty="0"/>
              <a:t>			Tabela de vinculação com um nome significativo</a:t>
            </a:r>
          </a:p>
          <a:p>
            <a:r>
              <a:rPr lang="pt-BR" sz="2400" dirty="0"/>
              <a:t>		</a:t>
            </a:r>
          </a:p>
          <a:p>
            <a:r>
              <a:rPr lang="pt-BR" sz="2400" dirty="0"/>
              <a:t>		Tipo de participação</a:t>
            </a:r>
          </a:p>
          <a:p>
            <a:r>
              <a:rPr lang="pt-BR" sz="2400" dirty="0"/>
              <a:t>			Obrigatória</a:t>
            </a:r>
          </a:p>
          <a:p>
            <a:r>
              <a:rPr lang="pt-BR" sz="2400" dirty="0"/>
              <a:t>			Opcional</a:t>
            </a:r>
          </a:p>
          <a:p>
            <a:endParaRPr lang="pt-BR" sz="2400" dirty="0"/>
          </a:p>
          <a:p>
            <a:r>
              <a:rPr lang="pt-BR" sz="2400" dirty="0"/>
              <a:t>		Grau de participação</a:t>
            </a:r>
          </a:p>
          <a:p>
            <a:r>
              <a:rPr lang="pt-BR" sz="2400" dirty="0"/>
              <a:t>			Número mínimo </a:t>
            </a:r>
          </a:p>
          <a:p>
            <a:r>
              <a:rPr lang="pt-BR" sz="2400" dirty="0"/>
              <a:t>			Número máximo 	</a:t>
            </a:r>
          </a:p>
        </p:txBody>
      </p:sp>
    </p:spTree>
    <p:extLst>
      <p:ext uri="{BB962C8B-B14F-4D97-AF65-F5344CB8AC3E}">
        <p14:creationId xmlns:p14="http://schemas.microsoft.com/office/powerpoint/2010/main" val="2677706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4162</TotalTime>
  <Words>915</Words>
  <Application>Microsoft Office PowerPoint</Application>
  <PresentationFormat>Personalizar</PresentationFormat>
  <Paragraphs>99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Calibri</vt:lpstr>
      <vt:lpstr>Symbol</vt:lpstr>
      <vt:lpstr>Times New Roman</vt:lpstr>
      <vt:lpstr>Wingdings</vt:lpstr>
      <vt:lpstr>Office Theme</vt:lpstr>
      <vt:lpstr>Apresentação do PowerPoint</vt:lpstr>
      <vt:lpstr>Definir os tipos de chaves presentes em uma modelagem         relacional e definir o significado de normalização</vt:lpstr>
      <vt:lpstr>Definir os tipos de chaves presentes em uma modelagem         relacional e definir o significado de normalização</vt:lpstr>
      <vt:lpstr>Definir os tipos de chaves presentes em uma modelagem         relacional e definir o significado de normalização</vt:lpstr>
      <vt:lpstr>Definir os tipos de chaves presentes em uma modelagem         relacional e definir o significado de normalização</vt:lpstr>
      <vt:lpstr>Definir os tipos de chaves presentes em uma modelagem         relacional e definir o significado de normalização</vt:lpstr>
      <vt:lpstr>Definir os tipos de chaves presentes em uma modelagem         relacional e definir o significado de normalização</vt:lpstr>
      <vt:lpstr>Definir os tipos de chaves presentes em uma modelagem         relacional e definir o significado de normalização</vt:lpstr>
      <vt:lpstr>Definir os tipos de chaves presentes em uma modelagem         relacional e definir o significado de normalização</vt:lpstr>
      <vt:lpstr>Definir os tipos de chaves presentes em uma modelagem         relacional e definir o significado de normalização</vt:lpstr>
      <vt:lpstr>Definir os tipos de chaves presentes em uma modelagem         relacional e definir o significado de normalização</vt:lpstr>
      <vt:lpstr>Definir os tipos de chaves presentes em uma modelagem         relacional e definir o significado de normalização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Administração de Banco de Dados Oracle: Introdução</dc:title>
  <dc:subject/>
  <dc:creator>Junior®</dc:creator>
  <dc:description/>
  <cp:lastModifiedBy>Carlos Eduardo Gertners De Magalhaes</cp:lastModifiedBy>
  <cp:revision>373</cp:revision>
  <dcterms:created xsi:type="dcterms:W3CDTF">2017-04-22T16:06:56Z</dcterms:created>
  <dcterms:modified xsi:type="dcterms:W3CDTF">2022-10-26T01:18:03Z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Personalizar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19</vt:i4>
  </property>
</Properties>
</file>