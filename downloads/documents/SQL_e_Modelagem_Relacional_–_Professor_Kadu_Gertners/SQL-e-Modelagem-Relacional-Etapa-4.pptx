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74" r:id="rId3"/>
    <p:sldId id="257" r:id="rId4"/>
    <p:sldId id="268" r:id="rId5"/>
    <p:sldId id="269" r:id="rId6"/>
    <p:sldId id="270" r:id="rId7"/>
    <p:sldId id="258" r:id="rId8"/>
    <p:sldId id="271" r:id="rId9"/>
    <p:sldId id="272" r:id="rId10"/>
    <p:sldId id="273" r:id="rId11"/>
  </p:sldIdLst>
  <p:sldSz cx="12188825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4660"/>
  </p:normalViewPr>
  <p:slideViewPr>
    <p:cSldViewPr snapToGrid="0">
      <p:cViewPr varScale="1">
        <p:scale>
          <a:sx n="93" d="100"/>
          <a:sy n="93" d="100"/>
        </p:scale>
        <p:origin x="3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86F36-BAEE-4ED7-9B09-A5567D57D196}" type="datetimeFigureOut">
              <a:rPr lang="pt-BR" smtClean="0"/>
              <a:t>01/11/2022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336675"/>
            <a:ext cx="64103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A5872-4E0D-479B-A132-6CD4B6DFE5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850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4680"/>
            <a:ext cx="1096956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Clique para editar o título mestre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609480" y="6356520"/>
            <a:ext cx="284364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8A948C2A-F109-4E83-A9F2-E19E77B6B463}" type="datetime">
              <a:rPr lang="pt-BR" sz="1200" b="0" strike="noStrike" spc="-1">
                <a:solidFill>
                  <a:srgbClr val="8B8B8B"/>
                </a:solidFill>
                <a:latin typeface="Calibri"/>
              </a:rPr>
              <a:t>01/11/2022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164480" y="6356520"/>
            <a:ext cx="3859560" cy="364680"/>
          </a:xfrm>
          <a:prstGeom prst="rect">
            <a:avLst/>
          </a:prstGeom>
        </p:spPr>
        <p:txBody>
          <a:bodyPr anchor="ctr"/>
          <a:lstStyle/>
          <a:p>
            <a:endParaRPr lang="pt-BR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735400" y="6356520"/>
            <a:ext cx="284364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B051EBB1-01F8-4ED5-87FB-6B0984AB0840}" type="slidenum">
              <a:rPr lang="pt-BR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rgbClr val="000000"/>
                </a:solidFill>
                <a:latin typeface="Calibri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609480" y="274680"/>
            <a:ext cx="1096956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47500" lnSpcReduction="20000"/>
          </a:bodyPr>
          <a:lstStyle/>
          <a:p>
            <a:pPr algn="ctr">
              <a:lnSpc>
                <a:spcPct val="100000"/>
              </a:lnSpc>
            </a:pPr>
            <a:br/>
            <a:br/>
            <a:br/>
            <a:br/>
            <a:br/>
            <a:br/>
            <a:br/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Administração de Banco de Dados Oracle: Introdução</a:t>
            </a:r>
          </a:p>
        </p:txBody>
      </p:sp>
      <p:sp>
        <p:nvSpPr>
          <p:cNvPr id="42" name="CustomShape 2"/>
          <p:cNvSpPr/>
          <p:nvPr/>
        </p:nvSpPr>
        <p:spPr>
          <a:xfrm>
            <a:off x="8974800" y="3429000"/>
            <a:ext cx="2808000" cy="1461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113781E-1FDC-9698-BDC2-84A3D61E2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376237"/>
            <a:ext cx="10963275" cy="6105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53C5C-A377-0A17-7C0E-822CE5CAE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1" y="274680"/>
            <a:ext cx="2125482" cy="639720"/>
          </a:xfrm>
        </p:spPr>
        <p:txBody>
          <a:bodyPr/>
          <a:lstStyle/>
          <a:p>
            <a:r>
              <a:rPr lang="pt-BR" sz="3400" dirty="0"/>
              <a:t>Agregação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E076558-AD8F-A895-C77A-D73C0BAEA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81" y="1725388"/>
            <a:ext cx="4217892" cy="306352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6737AB8-317C-AF78-152C-47ADC04DC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67" y="1942699"/>
            <a:ext cx="4817817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121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113837" y="392905"/>
            <a:ext cx="117958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400" dirty="0"/>
          </a:p>
          <a:p>
            <a:r>
              <a:rPr lang="pt-BR" sz="2400" dirty="0"/>
              <a:t>		Regras de Negócio</a:t>
            </a:r>
          </a:p>
          <a:p>
            <a:endParaRPr lang="pt-BR" sz="2400" dirty="0"/>
          </a:p>
          <a:p>
            <a:r>
              <a:rPr lang="pt-BR" sz="2400" dirty="0"/>
              <a:t>			Quais dados armazenar? 	</a:t>
            </a:r>
          </a:p>
          <a:p>
            <a:endParaRPr lang="pt-BR" sz="2400" dirty="0"/>
          </a:p>
          <a:p>
            <a:r>
              <a:rPr lang="pt-BR" sz="2400" dirty="0"/>
              <a:t>			A organização usar o dado (cada organização usa da sua forma)</a:t>
            </a:r>
          </a:p>
          <a:p>
            <a:endParaRPr lang="pt-BR" sz="2400" dirty="0"/>
          </a:p>
          <a:p>
            <a:r>
              <a:rPr lang="pt-BR" sz="2400" dirty="0"/>
              <a:t>			Dados coletados e armazenados</a:t>
            </a:r>
          </a:p>
          <a:p>
            <a:endParaRPr lang="pt-BR" sz="2400" dirty="0"/>
          </a:p>
          <a:p>
            <a:r>
              <a:rPr lang="pt-BR" sz="2400" dirty="0"/>
              <a:t>			Definição e estabelecimento de relacionamentos</a:t>
            </a:r>
          </a:p>
          <a:p>
            <a:endParaRPr lang="pt-BR" sz="2400" dirty="0"/>
          </a:p>
          <a:p>
            <a:r>
              <a:rPr lang="pt-BR" sz="2400" dirty="0"/>
              <a:t>			Segurança</a:t>
            </a:r>
          </a:p>
          <a:p>
            <a:endParaRPr lang="pt-BR" sz="2400" dirty="0"/>
          </a:p>
          <a:p>
            <a:r>
              <a:rPr lang="pt-BR" sz="2400" dirty="0"/>
              <a:t>			Confiabilidade dos dados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101473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113837" y="392905"/>
            <a:ext cx="1207498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400" dirty="0"/>
          </a:p>
          <a:p>
            <a:r>
              <a:rPr lang="pt-BR" sz="2400" dirty="0"/>
              <a:t>		Tipos de Regras de Negócio</a:t>
            </a:r>
          </a:p>
          <a:p>
            <a:r>
              <a:rPr lang="pt-BR" sz="2400" dirty="0"/>
              <a:t>			Regras de Negócios orientadas ao banco de dados</a:t>
            </a:r>
          </a:p>
          <a:p>
            <a:r>
              <a:rPr lang="pt-BR" sz="2400" dirty="0"/>
              <a:t>			Regras de Negócios orientadas a aplicativos</a:t>
            </a:r>
          </a:p>
          <a:p>
            <a:endParaRPr lang="pt-BR" sz="2400" dirty="0"/>
          </a:p>
          <a:p>
            <a:r>
              <a:rPr lang="pt-BR" sz="2400" dirty="0"/>
              <a:t>		Categorias de Regras de Negócios</a:t>
            </a:r>
          </a:p>
          <a:p>
            <a:r>
              <a:rPr lang="pt-BR" sz="2400" dirty="0"/>
              <a:t>			Regras de negócios específicas de campo</a:t>
            </a:r>
          </a:p>
          <a:p>
            <a:r>
              <a:rPr lang="pt-BR" sz="2400" dirty="0"/>
              <a:t>			Regras de negócios específicas de relacionamento</a:t>
            </a:r>
          </a:p>
          <a:p>
            <a:endParaRPr lang="pt-BR" sz="2400" dirty="0"/>
          </a:p>
          <a:p>
            <a:r>
              <a:rPr lang="pt-BR" sz="2400" dirty="0"/>
              <a:t>		Definindo e Estabelecendo Regras de Negócios</a:t>
            </a:r>
          </a:p>
          <a:p>
            <a:r>
              <a:rPr lang="pt-BR" sz="2400" dirty="0"/>
              <a:t>			Primeiro específicas de campo e depois específicas de</a:t>
            </a:r>
          </a:p>
          <a:p>
            <a:r>
              <a:rPr lang="pt-BR" sz="2400" dirty="0"/>
              <a:t>			relacionamento</a:t>
            </a:r>
          </a:p>
          <a:p>
            <a:r>
              <a:rPr lang="pt-BR" sz="2400" dirty="0"/>
              <a:t>			Reunião com os envolvidos com o aplicativo (sistema) para</a:t>
            </a:r>
          </a:p>
          <a:p>
            <a:r>
              <a:rPr lang="pt-BR" sz="2400" dirty="0"/>
              <a:t>			confirmar as regras de negócio</a:t>
            </a:r>
          </a:p>
        </p:txBody>
      </p:sp>
    </p:spTree>
    <p:extLst>
      <p:ext uri="{BB962C8B-B14F-4D97-AF65-F5344CB8AC3E}">
        <p14:creationId xmlns:p14="http://schemas.microsoft.com/office/powerpoint/2010/main" val="308963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0" y="117693"/>
            <a:ext cx="1207498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Definindo e estabelecendo regras de negócios específicas de campo</a:t>
            </a:r>
          </a:p>
          <a:p>
            <a:r>
              <a:rPr lang="pt-BR" sz="2400" dirty="0"/>
              <a:t>		Etapa 1: Selecionar uma tabela</a:t>
            </a:r>
          </a:p>
          <a:p>
            <a:r>
              <a:rPr lang="pt-BR" sz="2400" dirty="0"/>
              <a:t>			Como a organização usa as informações baseadas ou</a:t>
            </a:r>
          </a:p>
          <a:p>
            <a:r>
              <a:rPr lang="pt-BR" sz="2400" dirty="0"/>
              <a:t>			relacionadas a este assunto?</a:t>
            </a:r>
          </a:p>
          <a:p>
            <a:r>
              <a:rPr lang="pt-BR" sz="2400" dirty="0"/>
              <a:t>			Que relacionamentos esta tabela tem consigo mesma ou com</a:t>
            </a:r>
          </a:p>
          <a:p>
            <a:r>
              <a:rPr lang="pt-BR" sz="2400" dirty="0"/>
              <a:t>			outras tabelas no banco de dados?</a:t>
            </a:r>
          </a:p>
          <a:p>
            <a:endParaRPr lang="pt-BR" sz="2400" dirty="0"/>
          </a:p>
          <a:p>
            <a:r>
              <a:rPr lang="pt-BR" sz="2400" dirty="0"/>
              <a:t>		Etapa 2: Revisar cada campo e determine se ele requer alguma restrição</a:t>
            </a:r>
          </a:p>
          <a:p>
            <a:r>
              <a:rPr lang="pt-BR" sz="2400" dirty="0"/>
              <a:t>			Com base em como a tabela é usada no banco de dados, é</a:t>
            </a:r>
          </a:p>
          <a:p>
            <a:r>
              <a:rPr lang="pt-BR" sz="2400" dirty="0"/>
              <a:t>			necessária uma restrição para qualquer elemento dentro desta</a:t>
            </a:r>
          </a:p>
          <a:p>
            <a:r>
              <a:rPr lang="pt-BR" sz="2400" dirty="0"/>
              <a:t>			especificação?	</a:t>
            </a:r>
          </a:p>
          <a:p>
            <a:endParaRPr lang="pt-BR" sz="2400" dirty="0"/>
          </a:p>
          <a:p>
            <a:r>
              <a:rPr lang="pt-BR" sz="2400" dirty="0"/>
              <a:t>		Etapa 3: Definir as regras de negócios necessárias para o campo</a:t>
            </a:r>
          </a:p>
          <a:p>
            <a:endParaRPr lang="pt-BR" sz="2400" dirty="0"/>
          </a:p>
          <a:p>
            <a:r>
              <a:rPr lang="pt-BR" sz="2400" dirty="0"/>
              <a:t>		Etapa 4: Estabelecer as Regras Modificando os Elementos de</a:t>
            </a:r>
          </a:p>
          <a:p>
            <a:r>
              <a:rPr lang="pt-BR" sz="2400" dirty="0"/>
              <a:t>		Especificação de Campo Apropriados</a:t>
            </a:r>
          </a:p>
          <a:p>
            <a:endParaRPr lang="pt-BR" sz="2400" dirty="0"/>
          </a:p>
          <a:p>
            <a:r>
              <a:rPr lang="pt-BR" sz="2400" dirty="0"/>
              <a:t>		Etapa 5: Determinar quais ações testam a regra (inserir, excluir, atualizar)</a:t>
            </a:r>
          </a:p>
        </p:txBody>
      </p:sp>
    </p:spTree>
    <p:extLst>
      <p:ext uri="{BB962C8B-B14F-4D97-AF65-F5344CB8AC3E}">
        <p14:creationId xmlns:p14="http://schemas.microsoft.com/office/powerpoint/2010/main" val="1955109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0" y="331877"/>
            <a:ext cx="1207498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Definindo e Estabelecendo Regras de Negócios Específicas de Relacionamento</a:t>
            </a:r>
          </a:p>
          <a:p>
            <a:r>
              <a:rPr lang="pt-BR" sz="2400" dirty="0"/>
              <a:t>		Etapa 1: Selecionar um relacionamento</a:t>
            </a:r>
          </a:p>
          <a:p>
            <a:r>
              <a:rPr lang="pt-BR" sz="2400" dirty="0"/>
              <a:t>			Que tipo de informação essas tabelas fornecem?</a:t>
            </a:r>
          </a:p>
          <a:p>
            <a:r>
              <a:rPr lang="pt-BR" sz="2400" dirty="0"/>
              <a:t>			Por que a relação entre essas duas tabelas é importante?	</a:t>
            </a:r>
          </a:p>
          <a:p>
            <a:endParaRPr lang="pt-BR" sz="2400" dirty="0"/>
          </a:p>
          <a:p>
            <a:r>
              <a:rPr lang="pt-BR" sz="2400" dirty="0"/>
              <a:t>		Etapa 2: Revisar o relacionamento e determinar se ele requer restrições</a:t>
            </a:r>
          </a:p>
          <a:p>
            <a:r>
              <a:rPr lang="pt-BR" sz="2400" dirty="0"/>
              <a:t>			Há necessidade de impor algum tipo de limitação a esse</a:t>
            </a:r>
          </a:p>
          <a:p>
            <a:r>
              <a:rPr lang="pt-BR" sz="2400" dirty="0"/>
              <a:t>			relacionamento com base na forma como a organização funciona</a:t>
            </a:r>
          </a:p>
          <a:p>
            <a:r>
              <a:rPr lang="pt-BR" sz="2400" dirty="0"/>
              <a:t>			ou conduz seus negócios?</a:t>
            </a:r>
          </a:p>
          <a:p>
            <a:endParaRPr lang="pt-BR" sz="2400" dirty="0"/>
          </a:p>
          <a:p>
            <a:r>
              <a:rPr lang="pt-BR" sz="2400" dirty="0"/>
              <a:t>		Etapa 3: Definir as regras de negócios necessárias para o relacionamento</a:t>
            </a:r>
          </a:p>
          <a:p>
            <a:endParaRPr lang="pt-BR" sz="2400" dirty="0"/>
          </a:p>
          <a:p>
            <a:r>
              <a:rPr lang="pt-BR" sz="2400" dirty="0"/>
              <a:t>		Etapa 4: Estabelecer as Regras Modificando as Características de</a:t>
            </a:r>
          </a:p>
          <a:p>
            <a:r>
              <a:rPr lang="pt-BR" sz="2400" dirty="0"/>
              <a:t>		Relacionamento Apropriadas	</a:t>
            </a:r>
          </a:p>
          <a:p>
            <a:endParaRPr lang="pt-BR" sz="2400" dirty="0"/>
          </a:p>
          <a:p>
            <a:r>
              <a:rPr lang="pt-BR" sz="2400" dirty="0"/>
              <a:t>		Etapa 5: Determinar quais ações testarão a regra			</a:t>
            </a:r>
          </a:p>
        </p:txBody>
      </p:sp>
    </p:spTree>
    <p:extLst>
      <p:ext uri="{BB962C8B-B14F-4D97-AF65-F5344CB8AC3E}">
        <p14:creationId xmlns:p14="http://schemas.microsoft.com/office/powerpoint/2010/main" val="2970735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1">
            <a:extLst>
              <a:ext uri="{FF2B5EF4-FFF2-40B4-BE49-F238E27FC236}">
                <a16:creationId xmlns:a16="http://schemas.microsoft.com/office/drawing/2014/main" id="{B55D8DA5-2507-0E06-A70E-604577669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558" y="104415"/>
            <a:ext cx="9423614" cy="6649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3297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6442E01-AE54-94C7-619D-541FEC61F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634" y="181017"/>
            <a:ext cx="8907334" cy="6356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5092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1">
            <a:extLst>
              <a:ext uri="{FF2B5EF4-FFF2-40B4-BE49-F238E27FC236}">
                <a16:creationId xmlns:a16="http://schemas.microsoft.com/office/drawing/2014/main" id="{3EE4B582-2AEE-4945-6300-9C0032466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685" y="118452"/>
            <a:ext cx="10251817" cy="662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5682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2">
            <a:extLst>
              <a:ext uri="{FF2B5EF4-FFF2-40B4-BE49-F238E27FC236}">
                <a16:creationId xmlns:a16="http://schemas.microsoft.com/office/drawing/2014/main" id="{AE12B041-DCBA-38F1-BE2E-8DA3499DC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85" y="137598"/>
            <a:ext cx="10714853" cy="6285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4807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4324</TotalTime>
  <Words>461</Words>
  <Application>Microsoft Office PowerPoint</Application>
  <PresentationFormat>Personalizar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Symbol</vt:lpstr>
      <vt:lpstr>Times New Roman</vt:lpstr>
      <vt:lpstr>Wingdings</vt:lpstr>
      <vt:lpstr>Office Theme</vt:lpstr>
      <vt:lpstr>Apresentação do PowerPoint</vt:lpstr>
      <vt:lpstr>Agregação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Administração de Banco de Dados Oracle: Introdução</dc:title>
  <dc:subject/>
  <dc:creator>Junior®</dc:creator>
  <dc:description/>
  <cp:lastModifiedBy>Carlos Eduardo Gertners De Magalhaes</cp:lastModifiedBy>
  <cp:revision>380</cp:revision>
  <dcterms:created xsi:type="dcterms:W3CDTF">2017-04-22T16:06:56Z</dcterms:created>
  <dcterms:modified xsi:type="dcterms:W3CDTF">2022-11-01T21:24:08Z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Personalizar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19</vt:i4>
  </property>
</Properties>
</file>